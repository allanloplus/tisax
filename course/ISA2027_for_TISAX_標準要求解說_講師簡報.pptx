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</p:sldIdLst>
  <p:notesMasterIdLst>
    <p:notesMasterId r:id="rId1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26fdf446-a67c-a6ba-eb6a-0f92376b4fe9}">
          <p14:sldIdLst>
            <p14:sldId id="256"/>
            <p14:sldId id="257"/>
            <p14:sldId id="258"/>
            <p14:sldId id="259"/>
            <p14:sldId id="260"/>
          </p14:sldIdLst>
        </p14:section>
        <p14:section name="TISAX 概論" id="{52886f2a-59e7-b1bc-ed76-b99f592e5642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ISA 2027 的結構與判讀" id="{646cb063-7e93-f239-6c73-1b42f1565950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資訊安全 第1章 政策與組織" id="{56aa7d76-e2dd-5df5-058b-c16f0ed225cb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資訊安全 第2–4章 人資、實體、IAM" id="{1a87e012-af91-f3a0-1cc1-0b8909ae63cb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資訊安全 第5章 IT／網路安全" id="{dfbbcac3-2d4c-08df-15f3-1b1cc4535996}">
          <p14:sldIdLst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資訊安全 第6–7章 供應商與法遵" id="{59e7102c-0a75-b693-df92-743de096b644}">
          <p14:sldIdLst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Prototype Protection 原型件保護" id="{48e8b127-3b8a-7418-c109-a72cea674e0a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</p14:sldIdLst>
        </p14:section>
        <p14:section name="Data Protection 資料保護" id="{8ba59619-c504-db32-fe5f-1bd158afaaf1}">
          <p14:sldIdLst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</p14:sldIdLst>
        </p14:section>
        <p14:section name="稽核實務與常見缺失" id="{4d98c953-9576-c5e9-bc99-fc2bf82ec4b4}">
          <p14:sldIdLst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</p14:sldIdLst>
        </p14:section>
        <p14:section name="謝謝聆聽" id="{f8428a20-d61a-86c7-3263-34ffd7674d75}">
          <p14:sldIdLst>
            <p14:sldId id="3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notesMaster" Target="notesMasters/notesMaster1.xml"/><Relationship Id="rId145" Type="http://schemas.openxmlformats.org/officeDocument/2006/relationships/presProps" Target="presProps.xml"/><Relationship Id="rId146" Type="http://schemas.openxmlformats.org/officeDocument/2006/relationships/viewProps" Target="viewProps.xml"/><Relationship Id="rId147" Type="http://schemas.openxmlformats.org/officeDocument/2006/relationships/theme" Target="theme/theme1.xml"/><Relationship Id="rId1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開場：自我介紹，說明本課程三大主軸（ISA 2027 條文、資安實務作法、稽核實務），並提醒學員課後可使用線上文字教材、互動影音與課後測驗。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開場暖場，讓 ARALE 先跟大家打招呼。Allan 接話：今天是實體課，簡報只放重點，細節都在線上教材，所以請大家不用急著抄。先做個小調查：舉手看看，公司已經有 TISAX 標籤的？正在準備第一次評鑑的？已經有 ISO 27001 的？依舉手比例調整後面的講解深度。提醒手機靜音、休息時間在第 4 章之後，大約第 80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說明今天的時間配置：前 35 分鐘建立共同語言，包括 TISAX 機制和 ISA 怎麼讀；接著是今天的主菜，資訊安全第 1 到 7 章；然後原型件保護與資料保護；最後 20 分鐘談稽核實務與常見缺失。休息排在第 4 章結束後。提醒大家：控制項很多，課堂上每項大約一分多鐘只講重點與常見缺失，完整條文、範例、稽核問題請回線上教材看。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自我介紹控制在一分鐘內。重點是讓學員知道我同時站在兩邊：平常幫企業導入，也會以 Auditor 身分去稽核，所以今天會一直講「稽核員心裡那把尺」。可以分享一句：我最常看到的狀況，是公司把 TISAX 當成「填一張 Excel」的專案，最後被稽核員一句「請給我看紀錄」問倒。介紹 ARALE：她會在轉場時幫大家整理重點，也鼓勵學員把問題丟給她。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五個目標對應今天的五大段落。特別強調第二點：Must 和 Should 的差別，是整門課最重要的共同語言，很多公司自評時把 Should 當成「建議」直接跳過，後面就吃缺失。學習方式建議：每聽完一個控制項，在自己的 ISA 自評表旁邊寫下「我們現在怎麼做」與「證據在哪裡」。也提醒：本課程依 VDA ISA 2027.1（2026-09-30）；評鑑規則細節以 ENX 最新 Participant Handbook 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進入第一段：TISAX 是什麼。先問大家一句：你們公司為什麼要做 TISAX？通常答案都是「客戶要求」。這一段要回答幾個問題：誰在管 TISAX、它跟 ISO 27001 有什麼不同、從註冊到拿到標籤要走哪些步驟、AL2 和 AL3 差在哪裡、要選哪些評鑑目標，以及缺失怎麼分類。這段大約 15 分鐘，講完會有一題隨堂測驗。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核心觀念：ISA 是一份公開的檢核表，TISAX 是使用這份檢核表的評鑑與交換機制。ISA 歡迎頁寫出三種用途：組織自評、內部稽核、TISAX 評鑑。依 ISA 2027.1 授權頁，ISA 由 ENX Association 的 Working Group ISA 編寫，提供給 VDA 以 VDA ISA 名義發行，其中 Data Protection 頁籤著作權屬於 VDA。TISAX 的價值在於「與其每家車廠都派人稽核同一家供應商，不如評一次、透過 ENX Portal 分享」。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強調一句話：有 ISO 27001 證書不等於自動取得 TISAX 標籤。ISA 資訊安全頁籤以 ISO 27001 為基礎，每個控制項也列出對應的 ISO 27001:2022 附錄 A 條號，所以已有 ISO 的公司骨幹是有的。差距通常在：成熟度 3 所需的持續運作證據、ISA 特有細節，以及高／極高保護需求的額外要求。案例：我輔導過一家有 ISO 27001 三年的模具廠，自評填滿 3，結果 1.3.3 外部 IT 服務、1.3.4 軟體核准、4.1.1 識別媒介三題都找不到紀錄。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原始流程有九步，簡報合併成六步：第五步包含評鑑與矯正措施計畫（CAP），第六步包含矯正措施評鑑（follow-up）與在 ENX Portal 分享標籤。實務提醒：第二步最容易出錯，評鑑目標要依客戶要求決定，先問客戶的採購或資安窗口需要哪些標籤再報名，不然白花錢。費用依據點數、評鑑目標與評鑑等級而定，請直接向稽核單位詢價。各階段實際期限以 ENX 最新 Participant Handbook 與稽核單位說明為準，不要只看課程中的數字。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簡單記法：AL2 看「你說的合不合理、有沒有證據」，AL3 看「你做的是不是真的、現場是不是這樣」。AL2 稽核員對自評結果做 plausibility check，多以視訊加文件分享進行，必要時或受評者要求時可到現場。AL3 稽核員會要求打開系統畫面、走到機房與原型件區域、隨機抽員工當場問。提問互動：在座有誰經歷過 AL3？請分享稽核員走了哪些地方。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這是業界常見對照，正式名稱、對應等級與需評估的控制項範圍，以最新版 ENX TISAX Participant Handbook 為準。原型件相關共有四個目標：Proto parts（零件與元件）、Proto vehicles（原型車）、Test vehicles（測試車輛使用，如道路測試、試車場）、Proto events（發表會、拍攝等活動），一般都是 AL3。ISA 2027 已重新編排原型件保護控制項，對照方式可能隨之調整。ARALE 的提醒：標籤不是自己決定要拿什麼，而是看客戶要求。原型件目標一定會到現場看圍牆、門禁、監視、遮蔽，請提早規劃。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Major non-conformity（主要不符合）：控制項目標未達成、Must 明顯未落實導致重大風險，也可能是系統性、普遍性的缺口；通常不會先核發暫時性標籤。Minor non-conformity（次要不符合）：控制項大致有運作，但部分要求未完全滿足，或證據不足以證明持續運作。Observation 和 Room for improvement 不影響標籤。提醒：成熟度 3 要的是「持續運作的證據」，證據不足本身就可能被開 minor。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暫時性標籤（temporary label）的意義，是讓客戶知道你「正在矯正中、整體可信」。條件是評鑑結果沒有主要不符合、只有次要不符合，而且矯正措施計畫已被稽核單位接受。待矯正措施評鑑完成，再換發正式標籤。實務提醒：三年很快就到，建議在到期前至少半年就開始安排重新評鑑，並把中間兩年的內部稽核、獨立審查紀錄準備好，這也和 1.5.1、1.5.2 有關，等一下第 1 章會講。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Definitions 對 SGA 的定義：一種針對大型且成熟度高的組織設計的簡化稽核方式，適用於涵蓋大量據點的評鑑範圍。因為稽核單位只抽樣部分據點，所以必須依賴集團自己的集中管理與內部稽核品質，這也是為什麼 1.5.1 的 SGA 要求特別多。台灣中小型供應商大多用不到 SGA，但若是集團多廠，可以向稽核單位詢問。課堂上遇到 SGA 欄位，我只會在備忘稿提一下。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【答案】B
答案是 B。只有次要不符合、且 CAP 被稽核單位接受時，通常可先取得暫時性標籤，矯正措施評鑑完成後再換發正式標籤。A 錯：仍需完成矯正確認才換正式標籤。C 錯：不需重新評鑑，而是做矯正措施評鑑（可能書面或到現場）。D 錯。補充：若有主要不符合，通常不會先核發暫時性標籤。實際條件與有效期以 ENX 最新規則為準。給大家 30 秒舉手作答。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第二段：怎麼讀 ISA。第一次打開 ISA Excel，很多人會被密密麻麻的欄位嚇到。其實只要搞懂四件事：有哪些頁籤、每一欄代表什麼、Must 和 Should 差在哪、成熟度怎麼評，後面每一個控制項都用同一套方法讀。這段 15 分鐘，請大家把手上的 ISA 2027.1 打開跟著看。也提醒：要求一律針對組織本身的組織、流程與基礎設施，不針對公司推向市場的產品。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歡迎頁建議先看 Definitions，再從 Information Security 開始。Data Protection 頁籤只有在依 EU GDPR 第 28 條受託處理個資時才額外填寫，控制項僅以 yes/no 回答。Results 頁籤彙整蜘蛛網圖與含 cutback 的總結果。Examples KPI 是範例，不是成熟度 4 的強制要求。License 是 CC BY-ND 4.0 加上衍生作品特別條款：本課程屬於未經 ENX 與 VDA 核可的衍生內容，正式要求以英文原文為準。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我教大家一個讀法：先看 Objective，再看 Must，然後看 Possible questions。看完這三欄，你就知道稽核員心裡那把尺長什麼樣子。Examples 是參考，不是標準答案。其他欄位：Reference to other standards 對應 ISO 27001:2022 附錄 A、ISA/IEC 62443-2-1、NIST CSF 2.0；Implementation guidance 參考 BSI 200-2、IT-Grundschutz、NIST SP800-53r5。Maturity level 欄位填 0–5 或 na，會自動帶到 Results。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這頁是今天最重要的觀念。很多人把 Should 翻成「建議」，自評時整欄跳過。依 ISA Definitions，Should 是「原則上組織必須實施」，只有在有正當理由時可不符合，而且組織必須了解偏離的影響並提出合理說明。稽核員會問：這條你沒做，理由是什麼？影響評估在哪裡？誰核准的？答不出來就是缺失。提問互動：請大家回想自家自評表，Should 是怎麼填的？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高與極高要求會用括號標示對應的保護目標。例如 5.1.2 高保護需求「資訊以加密形式傳輸」只標 (C)；5.2.9 極高保護需求「以離線、不可變備份或隔離的 IAM 方案做額外備份」標 (I, A)。實務上，評鑑目標若是 Availability high，就要特別注意標 A 的要求；若是 Info high，以 C（及相關 I）為主。實際適用哪些要求，以 Participant Handbook 對評鑑目標的定義為準。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這句話在 ISA 裡出現非常多次，Definitions 頁有明確定義：對列出的每一個面向，組織應已做出有意識且有理由的決定，包含是否實施、實施到什麼程度、如何實施；在稽核情境中，受稽者應能說明背後的理由與最後的決定。以 2.1.4 為例，可以某項用技術控制、某項用規範宣導，但每一項都要有決定、有理由。ARALE 的筆記：在自評表旁做一個小表：面向／我們的決定／理由／證據。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成熟度模型參考 SPICE（ISO/IEC 33001）的概念。判定時必須提出符合該等級要求的客觀證據，例如流程產出的工作成果，或執行人員的訪談陳述。等級 3 的關鍵字有三個：標準流程、與其他流程整合並建立介面、在一段較長期間內持續且積極地使用。所以要證明的不只是「有做」或「有文件有紀錄」，而是「已經跑了一段時間」。新建立的流程只跑了兩週，通常很難被認定為 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 寫明：本版所有控制問題的目標成熟度一律為 3。Results 計算總結果時，超過目標的控制項會被截回到 3 再平均，避免某些題拿高分去彌補低分。這個例子：不 cutback 平均 3.4 看似超標，cutback 後只有 2.8，真實反映 1.2.2 沒達標。各章與小節結果則以不含 cutback 呈現。我在現場常聽到「這題我們做到 4 喔」，我都笑說：謝謝，但系統會幫你砍回 3，我還是要看那題 2 怎麼辦。標籤取決於個別控制項的缺失判定，不要只盯平均分數。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 起版本改以年份命名。其他一般變更：新增 NIST CSF 2.0 對照、移除 ISO 27001:2013 對照、刪除「通常的流程負責人」欄位。原型件保護刪除 8.3–8.5，並新增多個 8.1 控制項。2027.1 再修：Definitions 新增 coworking space 與 office-less、修訂 project 定義；4.1.2 把 state-of-the-art 改為公認實務的措辭；8.1.1 移除 Should；8.1.8 補充可追溯文件紀錄。版本轉換提醒：自評表或內部文件還寫 1.2.4 的，請改為 6.1.3，原型件舊對照表請全部重新檢查。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【答案】C
答案是 C：2.8。超過目標成熟度 3 的結果先截回 3：4→3、5→3，所以是 3＋3＋2＋3＋3＝14，14÷5＝2.8。選 A 3.4 的同學是忘了 cutback，這正是 ISA 要避免的「高分彌補低分」。延伸提問：這五題裡哪一題會被稽核員追問？答案是 2 的那題。提醒：平均分數只是參考，標籤主要取決於個別控制項的缺失判定與矯正結果。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進入資訊安全模組。第 1 章是地基：政策、ISMS、責任、專案、資產、分級、外部服務與軟體核准、風險、內稽與獨立審查、事件與危機。後面各章的技術與實體控制，幾乎都以本章的範圍、資產清冊、分級和風險評鑑作為輸入。我輔導時一定先把這四件事做扎實，再往技術面推。本段 22 分鐘，每個控制項約一分半，最後有測驗與情境討論。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 最重要的變更就在這題：政策「提供給員工」從 Should 升為 Must，政策放在主管抽屜、員工找不到，現在直接影響判定。第一條 Must 常被忽略：寫政策前要先盤點要求來源，例如客戶保密條款、TISAX、個資法、營業秘密法。稽核員會問「你們的資安要求從哪裡來」。SGA 另要求政策在整個評鑑範圍內發布並實施。我稽核時最常做的動作，就是隨機找一位產線組長問：公司資安政策在哪裡看？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這題是整個 ISA 的骨架，只有 Must、沒有 Should 與高／極高要求，但六條 Must 本身就很完整：範圍、要求、委任核准、監督手段、適用控制、有效性審查。原文定義 ISMS 是管理階層的控制機制，讓資安成為可持續管理的結果，而不是靠運氣或某位熱心 IT 的個人努力。只做 TISAX 的公司，完整填寫 ISA 自評表（含 N/A 理由）即可作為適用控制依據。SGA 要求核准者對所有據點都有權限。管理審查不是開會簽名，我會翻上次決議看有沒有追蹤。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我常說資安負責人不能只是「被選中的倒楣鬼」：有任命、有授權、有時間、有預算，缺一樣稽核員都看得出來。「有資格」要能證明，例如 ISO 27001 主導稽核員訓練或 TISAX 課程紀錄。Should 的「其他安全相關角色」指不屬於 ISMS 但與資安有關的角色，例如 DPO、原型件保護負責人、門禁管理、OT 系統負責人。高保護需求的職責分離，小公司人力不足時可用補償措施，例如由不同人審查日誌、外部顧問執行內稽。SGA 要求有具名、可聯繫的總負責人。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2027.1 修訂了「專案」定義：為特定期間設立、有明確目標與專屬角色的組織上獨立活動，可在任何部門，不限技術活動。所以物流改善、法遵專案、ERP 導入都算。唯一的 Must 是專案要考量資安要求做分類，原文範例可用 CIA 或 CIAA。Should 其實就是把 1.4.1 的風險方法套用在專案層級。稽核員會請你列出近期專案，挑一兩個看分類與風險紀錄。最簡單的落地方式：在專案啟動單多加五個欄位，不用另起爐灶。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把資產分兩層：資訊資產是寶物本身，例如客戶圖面、報價、製程參數、人事資料；支援資產是載體，例如伺服器、筆電、雲端服務、紙本，甚至員工。支援資產會繼承所承載資訊的保護需求。「其他安全相關資產」包含 IT 系統、IT 服務、OT 系統與 IoT 設備，有產線的工廠要把 PLC、HMI、工控電腦納入。原文說可以用類別登錄，不必逐檔列。我的口訣：不要從電腦清單開始，先找出最怕外洩的寶物，再找寶物放在哪個箱子。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 的對應關係：一般保護需求對應 internal、高對應 confidential、極高對應 strictly confidential。第三條 Must 最常被抓：依分級訂定處理規範，括號列出標示、使用、運送、儲存、歸還、刪除／銷毀，要寫成「可以做／不可以做」的矩陣並真的落實。Should 要考量完整性與可用性，例如製程參數被竄改影響品質、MES 停擺影響交期。我的建議：等級不要超過四級，等級越多員工越不會分，最後大家都選中間那級。現場會抽查共用資料夾和回收箱。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這題就是處理影子 IT。原文特別點名免費或低成本的線上服務最危險，因為員工不用經過任何核准就能註冊，例如 PDF 轉檔、大檔傳輸、個人雲端、線上翻譯、AI 聊天工具。同一個雲端服務可能核准處理內部資料、但不核准極機密，所以核准結果最好註明可處理的最高分級，這和 1.3.2 連動。另一條 Should 是確定並滿足採購、啟用與上線核准的要求。我的提醒：禁止之前先提供替代方案，否則員工會用手機熱點繞過去。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文很務實：核准流程要簡單到可行，太難太慢大家就會繞過去。核准粒度可以很廣，例如作業系統附帶元件整批核准，可信任的儲存庫（作業系統發行版、行動裝置商店）也可作為核准依據。原文也提醒延誤本身就是風險：安全修補因未測試遲遲不裝，風險往往更高。極高保護需求的例子是管理工具個別核准並採四眼原則。我建議分三級：一般軟體快速通道、高風險軟體個別審、管理與維護工具限期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目標最後一句請畫重點：建議讓風險管理盡可能簡單，以便有效且有效率地運作。很多公司做了上百行、十幾個欄位的風險表，最後沒人維護。這題高與極高保護需求都是 None。因應事件的例子：資安事件、新系統上線、搬遷廠區、客戶新要求。風險擁有者應是對業務有決策權的人，而不是全部寫 IT。我常問一句：如果這個風險發生了，誰會被老闆叫去罵？那個人就是風險擁有者。這題與 1.3.1、1.2.3、1.6.2、管理審查都連動。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這題就是「寫了要做、做了要查」。Must 包含兩種檢查：政策遵循（員工有沒有照規定做），以及技術要求遵循（例如伺服器設定是否符合強化基準、防毒是否都有安裝），結果都要記錄保存。稽核員常拿去年的內部稽核報告挑一個缺失，看矯正單有沒有結案、有沒有驗證有效性。SGA 的要求很多：所有據點都要有內部控制、合格稽核人員、涵蓋整個範圍的稽核計畫。我的觀點：內稽找不到缺失通常代表查得不夠深，我寧願看到十個已結案的小缺失。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1.5.1 是自己查自己，1.5.2 要求有人從外面看。獨立單位可以是外部單位，或客觀、具能力且不受不當影響的特殊內部部門，例如集團稽核室。常見問題：TISAX 評鑑能不能算？它確實是獨立外部評估，但週期通常三年，中間兩年就缺獨立審查，建議每年另安排一次，例如外部預評鑑或 ISO 27001 監督稽核，並確認範圍涵蓋 TISAX 評鑑範圍。根本性變更例如併購、範圍擴大、全面上雲。幫你建系統的顧問，不適合再當你的獨立審查員。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重點從「通報資安事件」擴大到「事件與觀察」。觀察是還沒出事、但可能有安全影響的現象，例如機房門沒關、陌生人在研發區拍照、伺服器有弱點。四大類要記熟：人員、實體、IT 與網路、供應商與合作夥伴，例如供應商被勒索也可能影響我們。Should 還要求通報資訊讓所有通報者容易取得，外部通報要及時處理。回饋很重要，員工通報後石沉大海，下次就不報了。我的原則：報錯不罰、不報才罰。有公司每月表揚通報可疑郵件的同仁，通報率一年翻三倍。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1.6.1 管報進來，1.6.2 管報進來之後。高保護需求要求最多，簡報濃縮成一條，完整是五項：依等級定義最長回應時間；升級條件、機制與聯絡人，一路到最高管理階層；知悉法律、法規與合約通報義務及聯絡資訊；事件溝通策略（對誰、何時、誰負責、誰核准、說什麼、怎麼說）；以及回應供應商資安事故的程序。汽車供應鏈的客戶合約常有通報時限，請逐一確認。SGA 要求標準化的通報追蹤機制。我的提醒：事件時最缺的是電話號碼，請印一份紙本放保險箱。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危機是指天災、實體攻擊、疫情、造成基礎設施大規模癱瘓的網路攻擊等，嚴重干擾關鍵業務的狀況。這題取代了舊 3.1.2，IT 持續性與備份另拆到 5.2.8、5.2.9。常見誤解是把危機管理當 IT 災難復原，ISA 要的是經營層層級的管理。高保護需求第一條是識別三類危機情境：關鍵人員無法到位、關鍵實體資源不可用、關鍵基礎設施中斷；其餘四條標 (A)：資源備援、溝通策略、定期評估、重點式測試。演練的價值，是發現「那個東西原來放在已經掛掉的系統裡」。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【答案】B
答案是 B。ISA 2027 將「政策以適當形式（例如 intranet）提供給員工」由 Should 升級為 Must。A、C、D 在 2027.1 仍是 Should，但別忘了 Should 是「原則上必須」，不做要有理由與影響評估。延伸：1.5.1 的 Must 也要求定期審查資訊安全政策與程序，所以政策審查實務上躲不掉。互動：請大家想想自家政策現在放在哪裡，產線沒有電腦的人怎麼看得到？可用公告、QR Code 或班前會補足。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參考答案：1.3.3 Must 不符合，外部 IT 服務未經評估就處理資訊，且服務與保護需求不相符；未定期驗證使用情形屬 Should 缺口。1.3.2 處理規範可能沒寫清楚機密圖面能用什麼方式傳送。2.1.3 訓練未涵蓋外部 IT 服務的使用，這正是七大主題之一。若有外洩疑慮，1.6.1 應通報並依 1.6.2 處理，必要時依合約通知客戶。稽核員通常會依影響程度判 minor 或 major，並追問是否為系統性問題。改善：提供核准的安全傳檔方式再封鎖。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接下來三章一起看：第 2 章人力資源，從員工生命週期切入；第 3 章實體安全，看得到摸得到的資安；第 4 章身分與存取管理，IT 最熟悉、也最容易被抽到缺失的章節。注意 3.1.2 已被 1.6.3、5.2.8、5.2.9 取代，不再單獨說明。這段 18 分鐘，結束後休息 10 分鐘。提醒：第 2 章的證據大多在人資手上，評鑑前記得找人資一起準備。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三條 Must 是一條鏈：先找出敏感職務，例如系統管理員、研發設計、人資薪資、原型件相關人員、可存取客戶網路的人員；再在職務說明書定義要求；錄用時至少驗證身分。Should 的延伸查核方法很多，例如推薦人、學經歷證書、品行證明，但不是每項都要做，而是依職務選擇深度並一致執行。台灣實務要同時符合個資法與就業服務法，蒐集良民證或查證前雇主要取得同意。我的提醒：敏感職務查得深、一般職務查得剛好，資安做好了，個資別出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控制問題的關鍵字是 all staff：正職、派遣、實習、工讀、長期駐點的外部人員都算。「已生效」代表有簽署、有日期、能對應在職名冊，不是只有範本。台灣常見做法是勞動契約、保密切結書、工作規則三件組；營業秘密法要求公司採取合理保密措施，簽署保密文件正是證據之一。這題和 1.1.1、2.1.3 連動：員工簽了遵守政策，就要能證明政策有公告、員工看得到、有受訓。稽核員最愛拿在職名冊隨機抽人對簽署紀錄，每年自己先對一次。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只有一句，但成熟度 3 要看 Should：有規劃、有目標族群、經核准、定期與依事件、有紀錄、知道窗口。七大主題：資安政策、事件通報、惡意程式應變、帳號密碼政策、法規遵循、分享機密前簽 NDA、外部 IT 服務使用（含 AI 工具）。ISA 2027 新增高階主管／經營層的專屬訓練，因為他們常是 CEO 詐騙的目標；原 5.2.3 依個案的認知要求已刪除，統一由本題涵蓋。稽核員會隨機問員工「中毒了找誰」，答不出來比沒簽到表還傷。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 重新改寫了這題的 Must，五個面向是：私人環境行為、公共環境行為、依保護需求與合約要求安全處理資訊（含紙本）、公共環境防竊、安全存取組織 IT 服務。2027.1 新增 coworking space 定義：由不屬於本組織 ISMS 的第三方提供的共享辦公環境，所以它不是公司的安全區域。很多 OEM 合約限制機密資料只能在公司內處理，規範要能反映。疫情後很多公司習慣性居家辦公卻沒寫成規範，稽核員看到 VPN 連線紀錄就會問，先把現況寫下來再補強。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安全區域像洋蔥，一層包一層：越往內能進的人越少。ISA 原文範例的顏色：灰色公共、綠色一般、紫色特殊（機房、配線間）、黃橘色高（人資、設計、IT）、紅色極高（客戶專案辦公室）。顏色只是慣例，重點是每區有技術、實體、人員、組織措施。收貨與出貨區是外部司機最常進出、最容易被忽略的破洞。行為準則要讓清潔、保全、外包也知道。若評鑑範圍含原型件，還要搭配 8.2 更嚴格的要求。稽核員會從大門走到機房對照平面圖，請別拿裝修前的舊圖。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資訊資產是內容，支援資產是容器，容器在每個環節都可能讓內容外洩。Must 括號裡的六個生命週期環節，就是稽核員的檢查清單：運送、存放、維修、遺失、歸還、報廢。高保護需求要求報廢依標準執行，例如 ISO 21964（前身 DIN 66399）至少安全等級 4；委外銷毀要確認廠商能提供符合等級的證明與銷毀證書。本課程把原文放在 4.1.1 下的部分可能提問（例如離開座位文件怎麼處理、碎紙機在哪）歸到這題。我最常在現場看到的就是角落的回收紙箱。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這題聚焦會被帶著走的設備：筆電、平板、手機，以及 USB、SD 卡、外接硬碟。標示有兩層意思：資產標籤方便盤點與辨識歸屬；以及在客戶面前使用時的要求，例如筆電貼著 A 車廠專案名稱帶去 B 車廠開會就是洩密。高保護需求要求行動儲存裝置全面加密；量測儀器 SD 卡這類技術上無法加密的，可用限定區域使用、用後清除、上鎖保管等同等措施，並記錄於風險評鑑。加密率 98% 聽起來很好，但稽核員會直接問剩下 2% 是誰，例外清單要先準備好。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識別工具包含實體與電子兩類：鑰匙、門禁卡、識別證、訪客證，以及智慧卡、硬體 token、FIDO2 金鑰。一旦管理失控，門禁和 MFA 就形同虛設。ISA 2027 刪除了高保護需求的「時間限制」要求，但有效期限仍在 Must 的考量事項中，所以仍要定義各類工具的有效期。高保護需求的失效策略：門禁卡在系統立即停用、金鑰在身分系統撤銷，傳統鑰匙可能要換鎖心。我曾問總務「機房鑰匙有幾支」，答「應該三支吧」，最後找出來七支，清冊從現在開始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不直接規定用密碼或 MFA，而是要求依風險評鑑選擇、考慮網際網路攻擊情境、符合公認最佳實務。M365 對外開放卻只用密碼，很難說得過去。ISA 2027 把強密碼由子項改為獨立的 Should；2027.1 把 state-of-the-art 改成「經驗證且廣為接受的實務」，方便引用 NIST SP 800-63B 等公認標準。高保護需求補充措施還包含強驗證、閒置停用、防暴力破解。常見誤解是有 MFA 就全部滿足：OT、網路設備、雲端主控台呢？MFA 最容易漏的是管理員和網路設備。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這題是第 4 章 Must 最多的控制項，核心是一人一帳號、帳號有生命週期、密碼有規矩。共用帳號只能用在可追溯性非必要的情況，例如產線看板的唯讀帳號。登入資訊政策六點：不揭露（對主管或 IT 也不行）、不寫下或明文儲存、懷疑外洩立即變更、公私不共用、首次登入變更初始密碼、密碼品質要求。Should 還有最低權限基本帳號、權責單位建立、停用與刪除期限、強驗證媒介安全使用。離職帳號停用是我當 Auditor 時命中率最高的抽查項目，請 IT 每月和人資對名單。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4.1.3 管帳號，4.2.1 管帳號能做什麼。Should 建議用角色（RBAC）與 need-to-use 原則，並在調職時更新，避免在公司待越久權限越大的「權限累積」。高保護需求要求由資訊擁有者核准，例如專案經理、設計部主管，而不是 IT 自己決定。極高保護需求兩項：內容層級加密，連特權管理員都看不到內容，無法加密時以同等措施保護；以及更短週期（例如每季）審查。有效的審查要由資訊擁有者確認還需不需要，並實際移除留紀錄。Everyone 權限是稽核員的最愛，評鑑前先掃一次。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【答案】B
答案是 B。4.1.3 Must：使用者離開或離職組織後，立即停用其使用者帳號。另一條 Should 是定義停用與刪除帳號的期限，例如離職當日停用、90 天後刪除，所以 A 把兩件事混在一起了。C 若業務上需要交接郵件，應以轉寄或共用信箱等受控方式處理，而不是保留個人帳號繼續使用。D 錯，定期審查是補漏，不是停用的主要機制。別忘了 Should 也要求審查員工在客戶 IT 系統中的帳號。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參考答案：4.1.3 Should 未審查客戶 IT 系統中的帳號，且未通知客戶停用；4.2.1 Must 定期審查權限也包含客戶系統。4.1.1 識別工具未在離職時歸還，門禁卡仍有效，屬 Must 生命週期管理缺口。3.1.1 門禁權限撤銷程序未落實。3.1.3 支援資產歸還與運送未依規定，筆電若未加密還牽涉 3.1.4。2.1.2 應有離職保密提醒。改善：以 JML 模型把人資、總務、IT 串成同一張離職單，並維護員工在客戶系統的帳號清單。客戶已發現異常，稽核員多半會深入追查。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休息 10 分鐘，請在投影幕上放倒數計時。提醒學員準時回座，下一段是第 5 章 IT／網路安全，共 15 個控制項，是今天最硬的一段。休息時可以到講台前問問題，我很樂意聽大家公司的實際狀況。ARALE 可以順便丟一個思考題：你們公司離職帳號平均多久停用？有沒有人負責通知客戶停用客戶系統的帳號？回來後可以請一兩位分享答案，順勢銜接第 5 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接下來進入第5章，這是 ISA 資訊安全模組技術含量最高的一章，分三小節：5.1 加密、5.2 營運安全、5.3 系統取得與開發，共 15 個控制項。我私下都叫它「勒索軟體防禦章」，因為幾乎每一條都能對應到真實攻擊劇本。2027 實質變更不多：5.2.3 刪除意識訓練的 should、5.2.8 高保護需求改為獨立要求、5.3.1 由 IT 系統改為 IT 服務。提醒大家：自 ISA 6 起 OT 也在範圍內，產線 PLC、HMI 都會被看。本段 25 分鐘，節奏要快。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先用一張圖把整章串起來。攻擊者從未修補的 VPN 或釣魚郵件進來（5.2.6 技術檢測負責先找到漏洞），在沒有區隔的平面網路橫向移動到產線，先關防毒、再刪與網域整合的備份，最後把伺服器、MES、產線工作站加密。公司因為沒有日誌，連發生什麼事都說不清楚。問學員：你們公司這五步，哪一步最擋不住？請舉手。後面每一個控制項，我都會回頭指它擋在哪一步。這張也提醒：OT 是台灣零件廠最大盲點，可參考 IEC 62443 的 Zones and Conduits。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只有一句但份量很重：「所有」使用中的加密程序，包含演算法、簽章、雜湊、通訊協定都要符合產業標準。我稽核最常抓到 VPN 開著 TLS 1.0，或倉庫角落的掃描器還在用 WEP。目標特別提到可用性：金鑰遺失等於資料遺失，我看過 BitLocker 復原金鑰存在離職工程師的 Excel 裡。高保護需求的金鑰主權，就是資料交給雲端或外包時，誰能控制金鑰，例如 BYOK/CMK。可與 ISO 27001 A.8.24 共用一份密碼學政策。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 Must 是盤點：e-mail、OEM 入口網站、OFTP2、雲端分享、Teams、LINE，甚至快遞隨身碟都算。我都請業務、研發、品保打開寄件備份看三天，清單永遠比想像長。關鍵觀念：傳輸加密像運鈔車，送到對方信箱就是打開的；內容加密是信本身鎖在保險箱。高保護需求至少傳輸加密，極高保護需求要內容加密，例如 S/MIME、Purview 標籤、AES-256 加密檔。密碼一定走另一個管道，寫在同一封信等於把鑰匙黏在保險箱上。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我稽核的開場題永遠是：上週你們改了什麼？如果 IT 主管開始滑 LINE 群組，就知道還沒上軌道。注意範圍不只 IT，還有組織與業務流程：部門合併、新增產線、倉庫外包、機房搬家都算。我看過新產線設備直接接上辦公網路，一年沒人發現。ISA 不要求買 ITSM 系統，但要能追溯誰申請、誰核准、怎麼回退。緊急變更可以先做後補，但比例過高稽核員會起疑。高保護需求要在變更後重新掃描、確認日誌與備份仍正常。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這條的 Must 是風險導向：不是每個系統都要三套環境，先做風險評估，再依結果區隔。單純檔案伺服器可能不需要，但自行開發的 MES、對外供應商入口網站、ERP 客製程式通常需要。評估寫「不需要」也是合法答案，但理由要說得出來。正式機不放開發工具，是因為駭客最愛就地取材；不同帳號是避免在錯的視窗下錯的指令。OT 一樣適用：PLC 程式先在模擬器或備品驗證，不要線上直接改。本條無高／極高額外要求。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 變更：刪除「針對個案的人員意識措施」這條 should，因為已統一放到 2.1.3 檢查，不是不用做。Should 我分五層：減少攻擊面、端點防護、閘道防護、防竄改、替代措施。九成流量是 HTTPS，閘道不看加密流量等於放行；勒索軟體進來第一件事就是關防毒，所以要防竄改。工廠最痛的是 Windows XP 的 HMI 原廠不讓裝防毒，ISA 接受網路隔離、白名單、關 USB 等替代措施，前提是有清單、有評估、有核准。最怕大家假裝那台電腦不存在。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五項 Must 我濃縮成三件事：評估、記錄、檢查。最常見缺失就是只收不看。使用雲端時要先了解它給哪些日誌，例如 M365 稽核日誌保存期間依授權不同。條文多次寫「在法律允許範圍內」，台灣要留意個資法與勞動規範，日誌含員工個資時要告知目的與範圍。SIEM 不是必要條件，小公司可從 Windows Event Forwarding、Wazuh、Graylog 開始。高保護需求要記錄廠商遠端維護的連線起訖。日誌就像行車紀錄器，但也要有人定期看。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是完整循環：蒐集資訊、評估嚴重度、比對受影響資產、處理風險。要能比對，前提是有 1.3.1 的硬體與軟體清冊。CVSS 只代表技術嚴重度，還要看資產重要性、是否對外暴露、是否列入 CISA KEV。處理風險不等於一定要打 patch：OT 設備無法更新時，可用隔離、關服務、IPS 虛擬修補並由管理階層接受殘餘風險。勒索軟體很少用零時差，大多從一台忘記更新的 VPN 或防火牆進來，對外設備韌體列第一優先，CP 值最高。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先釐清：這裡的稽核是技術檢查，例如弱點掃描、組態檢查、滲透測試，不是 1.5.x 的 ISMS 內部稽核。5.2.6 負責找問題，5.2.5 負責處理問題，報告不能放抽屜。工廠要特別注意「協調」：弱點掃描可能讓老 PLC、HMI 當機，要選停機時段或用 OT 被動監測。極高保護需求要定期弱點掃描，無法掃描者原文舉例用桌面防火牆、服務只綁 loopback。建議：一百頁報告先挑對外與高風險前十項處理，讓數字往下走，管理階層才看得懂。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這條是本章核心。Must 只有兩句，Should 列了十個面向，可當區隔設計檢查表：限制影響範圍、偵測橫向移動、辦公／製造／開發網路分離、對外服務風險、自有與客戶網路分離（例如 ENX、客戶 VPN）、資料外洩防止，還有功能安全，OT 防火牆規則不能影響安全連鎖。台灣零件廠最大課題是 IT/OT 區隔，一台業務筆電中毒就能擴散到產線。網路區隔就像工廠防火區劃，先把 IT 與 OT 中間那道牆砌起來，就擋掉一大半勒索劇本。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5.2.8 比 5.2.9 更上位，處理 IT 服務層級的營運持續。零件廠的關鍵服務通常是 ERP、MES、EDI／客戶入口、e-mail、AD 與 OT 的 SCADA。2027 把高保護需求七項改為各自獨立的「＋」，每項都要有證據：RTO、外部服務商 SLA、與 OEM 依合約溝通、完整復原測試、備份與復原策略、備份防惡意軟體竄改刪除、防未授權存取。極高另要求與供應商計畫協調、分離備援系統、記錄測試情境與經驗教訓。演練請拿計時器，數字要演練過才算數。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兩個重點：系統要有備份概念，而且備份本身也要保護 C、I、A；服務要有復原概念。很多公司只有排程，沒想過還原到哪、誰做、先還原誰。ERP 依賴 AD，AD 沒回來什麼都起不來。高保護需求含 RPO、RTO、復原資源、避免過載、空間備援，並定期審查與測試還原。極高保護需求直接針對勒索軟體：離線、不可變或隔離 IAM，攻擊者拿到網域管理員也刪不掉，另加地理備援。OT 的 PLC 程式、HMI 專案檔也要入清冊。沒測過的備份只能叫做「希望」。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RPO 與 RTO 是 5.2.8、5.2.9 高保護需求的核心，學員常搞混。RPO 往回看：最多能接受遺失多久的資料，決定備份頻率；RTO 往前看：服務最晚多久要恢復，決定備援架構與還原演練。問學員：你們 ERP 的 RTO 是多少？有演練過嗎？3-2-1-1-0 口訣：3 份資料、2 種媒體、1 份異地、1 份離線或不可變、0 還原錯誤。這不是 ISA 原文，但能很好對應高與極高要求。補充：M365 等 SaaS 的保留機制不等於備份。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 把控制問題的「IT 系統」改為「IT 服務」，範圍涵蓋雲端、外包開發與採購，例如新的 SaaS 報價系統、擴充 MES 模組。精神是 Security by Design。Must 涵蓋四個時點：設計開發、取得擴充、變更、驗收。失效安全在工廠很有感：MES 與 PLC 斷線時，設備要停在安全狀態。測試資料是常見缺失，把正式 ERP 複製到沒保護的測試機。極高保護需求對客製軟體做滲透測試或原始碼檢測。最划算的資安是寫在 RFP 裡的資安，上線後再要就變追加預算。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網路服務指 ISP 線路、MPLS／SD-WAN、ENX、VPN 服務、DNS、雲端防火牆等。和 5.2.7 的差別：5.2.7 管自己的網路怎麼切，5.3.2 管採購的網路服務要達到什麼要求，尤其要談進合約，例如可用率、修復時間、DDoS 防護、事件通報。高保護需求（可用性）要監控網路品質，用 NetFlow 或 PRTG、Zabbix 量測。對 JIT 供貨的零件廠，EDI 中斷直接影響 OEM 叫料，要與 5.2.8 的 RTO 一致。備援線路跟滅火器一樣，買了要測，建議每季拔一次主線。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這是退場條款控制項。關鍵字是「每一項」外部 IT 服務都要有程序，不是只有大系統。要考量：匯出格式能不能用（不能只有 PDF 報表）、匯出時間與費用、終止後保留期間、刪除方法與證明、備份與災備站點副本、帳號與 API 金鑰撤銷。很多台灣企業用標準條款雲端無法議約，至少要保存服務商的保留與刪除政策並記錄評估結論。與 5.3.1 採購、6.1.x 供應商管理相關。談戀愛時就要想好分手怎麼辦。本條無高／極高額外要求。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針對多租戶的公有雲 SaaS、共用主機、MSP 平台。使用者通常無法自己驗證隔離機制，所以靠供應商證據：ISO 27001 加 27017、SOC 2 Type II、CSA STAR、TISAX Label 與安全白皮書。但別忘了共同責任模型：M365 外部共用、AWS 安全群組設定錯誤，一樣讓隔離破功。若你本身替多家 OEM 代管資料，這條也適用在你怎麼隔離客戶，呼應 5.2.7。證書是起點不是終點。本條無高／極高額外要求。講完 5.3 準備進入測驗與案例。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【答案】B
答案 B。5.2.9 極高保護需求要求額外備份以離線、不可變或隔離 IAM 方式進行，並定期以系統化方式技術測試還原程序；高保護需求也已要求測試整體還原能力。NAS 加入網域，攻擊者拿到網域管理員就能一併刪除或加密，這正是 5.2.8 高保護需求「備份防惡意軟體竄改刪除」要擋的。A 的頻率由 RPO 決定，不是本題核心；C 磁帶只是離線的一種手段，不是唯一；D 只有文件沒落實，稽核員一樣開缺失。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分組討論 2 分鐘。參考答案：5.2.5 對外設備弱點未修補；5.1.2 遠端存取若無 MFA 亦有問題；5.2.7 IT/OT 未區隔；5.2.8 高保護需求要求備份防惡意軟體刪除與竄改、與 OEM 依合約溝通、RTO；5.2.9 備份與網域整合、未考量空間備援與復原順序；5.2.4 若說不清入侵時間線也會被問。當下：隔離網段、啟動持續運作計畫、依合約通報 OEM、改紙本流程卡；事後：從乾淨備份依 AD、網路、ERP/MES 順序還原，檢討並走 5.2.1 變更。Auditor 會看整體是否有計畫與證據，而非單點。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第6章談供應商關係，把資安延伸到承攬商與合作夥伴；第7章談法規遵循，包括法規契約與個資保護。共 5 個控制項，10 分鐘。2027 重點變更請大家注意：6.1.1 把「查核契約遵守」移到高保護需求，並新增極高保護需求要求；6.1.3 由原本 1.2.4 改編號搬到第6章，2027.1 還移除了供應商 SoA 的 must。第7章兩條都沒有高／極高額外要求，屬於所有評鑑等級的基本功。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承攬商範圍很廣：供應商、分包商、服務商、自由接案者，連學研合作夥伴都算。Must 三件事：風險評估、契約綁住、客戶要求向下傳遞。2027 變更：ISA 6 放在 must 的查核契約遵守移到高保護需求，並要求記錄、定期及變更時審查監控。極高保護需求新增：以 TISAX Label 或同等第三方稽核、或涵蓋客戶要求的供應商稽核證明；沒稽核就要管理階層做風險決策並留紀錄，另要履行供應鏈透明度義務。實務：從會計廠商主檔撈清單，九成文具、便當廠商可直接標不涉資安。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這張是原文範例整理。判斷重點：承攬商能接觸哪個等級的機密資訊或安全區域、能修改哪個等級的完整性資訊、會影響哪個可用性等級的系統。一般等級收管理階層確認的自評或證書，不定期抽查；高等級要 TISAX 高保護需求 Label 或範圍相符的 ISO 27001，保留稽核權，定期與事件觸發檢查；極高等級要極高 Label，做定期且事件觸發的深入檢查。問學員：你們的 IT 維運廠商落在哪一格？很多人答不出來。最省力作法是在既有供應商評鑑表加第四欄「資安」。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本條無高／極高要求，是所有等級的基本功。Must 我記成「確定、知道、先簽、定期審」。稽核最常抓「先簽後給」：業務為了趕報價先寄圖面，事後才補簽。我最愛挑一封寄給外部的圖面郵件，再對 NDA 簽署日期，日期對不上就是一張缺失單。「有效」也很重要，過期 NDA 等於沒保護。Should 要求範本經法務確認，載明當事人、資訊類型、標的、期間、責任、合約後處理與稽核權。員工保密屬 2.1 人資，本條重點在對外交換；客戶 NDA 要同步給下游承攬商。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 把 ISA 6 的 1.2.4 搬到第6章改為 6.1.3，意思是用雲端或委外 IT 本質上是供應商管理；2027.1 另從 must 移除了供應商 SoA。核心是共同責任模型：M365 微軟管平台，帳號、MFA、分享設定、保留原則是你的責任。Must 五步：識別服務、確定要求、指定負責方、落實共同責任機制、各自履行。高保護需求五件事：服務清單、ISA 控制項適用性評估、組態定期評估、供應商履責證明如 SOC 2，以及整合本地 SSO 與 MFA。拿張 A4 畫兩欄，寫不出來的格子就是下次事故來源。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兩件事：定期確定相關法規與契約，原文建議整理成法規清冊；再訂遵循政策並傳達給負責人。原文範例包括著作權、密碼學法規、智慧財產、歸檔、資料保護、營業秘密與各類契約。台灣常見會納入個資法、營業秘密法、著作權法（軟體授權）、資通安全管理法（若為受規範機關的委外廠商），法規請以最新公告為準。Should 談紀錄完整性，例如 IATF 16949 品質紀錄保存。稽核員看的是每條旁邊有沒有寫「怎麼做到、誰負責」，不是清單多長。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本條只有三個 Must，沒有 Should 與高／極高要求。定位是「在資安中考量個資」，不是完整個資制度評鑑；若評鑑目標含 Data Protection 模組，後面還有更詳細的控制項。汽車業常見個資場景：人事薪資、訪客登記、門禁與監視影像、測試駕駛資料、客戶聯絡人。台灣主要依據個資法，與歐洲往來可能適用 GDPR。很多公司以為個資是法務或人資的事，稽核員直接抽人資共用資料夾權限，全公司都能讀，就知道個資沒真正納入 ISMS。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【答案】B
答案 B。這是 2027 新增的極高保護需求要求：適當資安水準應以第三方稽核（相應 TISAX Label 或同等）或涵蓋客戶要求的供應商稽核證明；若未稽核，組織管理階層必須做出以風險為基礎的決策，決定是否繼續往來，並留存紀錄。A 太極端，條文沒有要求一律終止；C 自評是一般等級的作法，不足以替代；D 決策層級錯誤，必須是管理階層。實務可用「供應商風險接受決策單」，寫明風險、補償措施、期限，由總經理簽核。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進入原型件保護，這段約 25 分鐘、20 個控制項，節奏要抓緊：每個控制項平均不到一分鐘，細節請學員回去看線上教材。先問全場：誰的公司手上有客戶的試作件、尚未公開的新零件？舉手的人這段要特別注意。ISA 2027 把這個模組大幅重整，8.1 變成組織要求、8.2 變成實體與環境安全，原本 ISA 6 的 8.3 到 8.5 已經刪除。很多人以為原型件保護就是裝門禁、貼霧面玻璃，其實重心已經往流程、訂單、訓練與紀錄移動。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這頁要講清楚分級權在誰手上。原文說：原型件智慧財產權的擁有者就是原型件的擁有者，保護需求由擁有者的委託部門（commissioning department）決定。所以供應商不能說「這個零件不重要」，要以委託方給的分級為準。分級為高或極高，就要落實本模組的最低要求。另外提醒：這個模組不像資安章節有高、極高的額外要求欄位，控制項只有 Must 與 Should。互動：問學員，你們的訂單上看得到客戶給的保密等級嗎？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這四個是一般常見的原型件相關 Label 名稱，實務上通常要以 AL3 現場評鑑方式進行。請特別注意最後一列：ISA 2027 已經刪除原本 8.3 到 8.5 的章節，測試車輛、活動、拍攝等主題改由 8.1.2 的訂單專屬要求來涵蓋。所以各 Label 在 ISA 2027 下到底對應哪些控制項，一定要查 ENX 最新版的 TISAX Participant Handbook 與評鑑目標說明，再決定申請範圍。我不建議學員憑舊經驗或網路文章決定，先跟客戶確認要求的評鑑目標。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用一張表把變更講完。第一，章節號互換：組織要求從 8.2 變成 8.1，實體與環境安全從 8.1 變成 8.2，原 8.1.7 訪客管理移到 8.1.8。第二，新增 8.1.1、8.1.2、8.1.4、8.1.11、8.1.12、8.1.13 六個控制項。第三，8.3 到 8.5 刪除。第四，2027.1 又做了兩個小修：8.1.1 移除 Should，8.1.8 目標加入可追溯的文件紀錄。手上還拿舊版文件的學員，回去第一件事就是把控制項編號對照表更新，不然評鑑時會雞同鴨講。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8.1.1 是整個原型件模組的地基，相當於資安模組的 1.1.1 加 1.2.2。重點是「已發行」：草稿、口頭共識、只存在客戶合約裡的條款都不算，必須是組織自己核准發布的文件。2027.1 已移除本條的 Should，評鑑員會專注在 Must 是否全部落實，特別是 qualified 與 resources。我常說原型件保護負責人不是掛名的，評鑑員會直接找他聊，講不出政策重點、不知道廠內有幾個客戶專案，這條就危險了。互動：你們公司這個角色現在是誰在兼？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這條是 ISA 2027 新增，也是取代原 8.3–8.5 的關鍵：測試車輛、活動、拍攝現在都透過訂單專屬要求來涵蓋。九個面向是：保密等級與對應措施、偽裝與偽裝變更、測試場、公共道路、活動、影片照片拍攝、運輸與物流、分包商、可攜式儲存媒體。不適用的面向也要寫理由。我的經驗是一張 A4 檢核表最實用，九個面向逐項打勾，評鑑員翻到通常會心一笑。客戶要求要轉成現場作業指導書，不能只躺在業務信箱。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時間點要記住：每年一次、專案開始時。很多公司只有年度通識，專案開案那一次漏掉。訓練對象是所有參與專案的人，包含派遣、駐廠工程師、保全人員。小技巧：把訓練紀錄和門禁名單比對，有權限卻沒受訓的人，評鑑員一抽就破功；反過來設計成未完訓就不開門禁，是最好的控制。成效佐證可以用簡單情境題，例如「訪客想在展示區拍照該怎麼辦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 新增。敏感職位例如試作組裝、原型件倉管、試車員、原型件攝影、原型件物流。身分驗證要留紀錄，但我建議只勾選已核對加核對人簽名，不保存證件影本，降低個資風險，這也呼應等一下的資料保護。Should 是以面談等簡易方法確認個人適任性，面談紀錄表加一欄誠信與保密意識即可。派遣人員可在派遣合約中要求派遣公司核對身分並提供名單更新。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兩個層級都要有：公司對公司的 NDA，以及公司對每一位員工與專案成員的保密義務。勞動契約或工作規則的保密條款要涵蓋原型件資訊，並明定離職後仍有效。NDA 最怕過期沒人管，我會建議放進合約管理系統設到期提醒，比靠業務記憶可靠。台灣可搭配民法、營業秘密法，跨國客戶要確認準據法與管轄。切結書本身也會蒐集個資，記得最小化並告知目的。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三件事：客戶核准、保密協議、安全證明。證明可以是透過 ENX portal 分享的 TISAX 評鑑結果，或你方親自稽核並追蹤改善的紀錄。我看過最驚險的案例：原型件外殼送去外面烤漆，烤漆廠老闆把成品拍照放上臉書炫耀。分包前多一道核准與證明，能救你一命。分包運輸與交接也要依 8.1.2 的運輸要求，交接時點收並簽名。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8.1.7 是流程，8.2.5 是技術，兩者要串在一起看。評鑑員最愛的一招：拿離職名單比對門禁系統，五分鐘就看出流程有沒有真的在跑。遺失處理準則可以直接印在識別證背面：立即通報哪個分機、哪個窗口。警衛室接到通報要馬上在系統停卡並記錄處理時間；實體鑰匙遺失要評估換鎖。互動：問學員，你們的門禁卡掉了，多久之內會被停用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6 的 8.1.7 移到這裡成為 8.1.8，2027.1 在目標中加入「包含可追溯的文件紀錄」，所以進入和離開時間都要有。規則對所有人一樣才叫規則：我輔導時最常聽到「這是老闆的朋友，不用登記」，偏偏評鑑員那天就在大門口看到。訪客登記資料本身是個資，要訂保存期限、到期銷毀並留紀錄；紙本登記採單頁或遮蔽設計，避免後面的訪客看到前人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這條只有兩個 Must，但現場最容易破功。規範要涵蓋手機、平板、筆電、智慧手錶、智慧眼鏡、相機等所有具攝錄功能的裝置。使用規則要具體：可以通話嗎？可以視訊嗎？QR code 用誰的裝置掃？貼紙最怕變成形式，我會請警衛離場時真的翻手機看一下，貼紙有 VOID 就登記並通報，才有嚇阻效果。入口張貼圖示化標語，並納入 8.1.3 訓練與 8.1.8 訪客規範。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個 Must 可以用影像生命週期來記：禁止、放行、核准、記錄、分級、儲存、傳送、刪除。紀錄要能回答誰、何時、拍什麼、在哪裡、用什麼設備。LINE 群組裡的原型件照片，是我評鑑時看過最多次的缺失，品保拍不良品順手就丟群組。一台專用相機加一張申請單，成本很低效果很好。傳送要用客戶指定平台或加密方式，只傳給經授權的收件者。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 新增。九種情境要逐訂單和委託方議定，並讓相關員工知道。可以納入公司整體事件管理（資安 1.6），但要保留委託方專屬的通報路徑。注意訂單期間結束後仍要有規範，例如結案後才發現照片外流。演練不用大：拿一個情境，例如偽裝車衣在高速公路上被風吹破，請大家講下一步，通常講到第三步就會發現哪裡沒想到。8.2.6 的入侵警報也要接到這裡。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 新增。目標很清楚：任何時候都要知道每一個原型件在哪裡、由哪個部門負責。清冊欄位建議：編號、客戶專案、保密等級、數量、目前位置、負責人、狀態、最後更新時間。帳物雙向抽查是我評鑑必做的動作：從清冊找現場，再從現場找清冊。平常自己先做一遍，評鑑那天才不會心跳加速。發現差異依 8.1.11 事件程序處理；清冊放在權限控管的系統，修改要留 log。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 2027 新增，而且把相關工具、模具也納進來。很多公司只顧好產線，卻忘了廢料區；我評鑑時會繞去廠區後面的回收場看看，常常有意外收穫。委外銷毀要取得銷毀證明，這正是 Should 要的符合證明。歸還時用簽收單並更新 8.1.12 清冊狀態。也別忘了對倉管、清潔外包、廢棄物處理人員說明規定。組織要求 13 項到此結束，接著進入實體與環境安全。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8.2 適用於在自有場域製造、存放原型件的公司；如果原型件只出現在別人的場域，要確認該場域營運方的安全概念。七個控制項用洋蔥來記：最外層周界，接著建築外殼，然後是看不見、進不來、有人知道，最內層是不同客戶之間的區隔。8.2.1 安全概念則是把整顆洋蔥畫成一張平面圖。幾個數字要記：三分鐘、24/7、原則上二十分鐘內介入。實體章節評鑑一定會走現場，建議評鑑前白天晚上各走一圈。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安全概念要涵蓋六大面向：外殼、視線、門禁、入侵監控、文件化訪客管理、客戶區隔；Should 再加上周界安全。原 ISA 6 的 8.1.1 對應到這裡。最好附一張平面圖，標示安全區域、周界、出入口、門禁點、偵測器、監視器與遮蔽措施。評鑑員會拿著圖走一圈，圖跟現場對得上，後面幾條就順了。外租倉庫、測試場等外部場域也要確認安全概念與責任歸屬，並每年或廠區變更時審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周界是洋蔥最外層的皮。Must 看的是「措施總和」：不一定每一段都要高牆，可以組合結構性措施（圍籬、圍牆、樓層）、技術性措施（偵測、警報、門禁）或自然屏障（植栽），這些是 Should 舉的例子。皮破一個洞沒關係，但你要知道洞在哪，裡面那層要夠硬。共用廠辦或園區的學員，要取得大樓管理的門禁與保全資料，並在安全概念中說明補強措施。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三分鐘是這條的關鍵數字：容易接近的門、窗及其他元件，要能抵抗螺絲起子、鉗子等簡易工具至少三分鐘，線上教材以 RC2 作為參考等級。Should 是堅固結構，例如磚造、混凝土；台灣很多鐵皮廠房，這時必須有風險降低措施，並留下基於風險決定的證據。我曾在現場問廠長：如果你是小偷，會從哪裡進來？他想了三秒，指向後面的採光罩，那就是下一筆預算要花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只有一句，但標準很高：需高或極高保護的新開發品，不可能被未經授權觀看。Should 提到玻璃表面與開啟的門、大門、窗戶。遮蔽物要裝在內側，避免外人從外面操作。評鑑員一定會繞到建築物外面往裡看，建議評鑑前自己白天晚上各繞一圈，晚上開燈時特別容易被看光。常見破口還有卸貨口、會議室玻璃牆與投影畫面。工作站可用隔屏、布幕，待處理件用黑布覆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三選一，但每一個出入點都要有，包含卸貨門與逃生門。電子門禁的權限依 8.1.7 流程開通；機械鎖建議專利保護鑰匙系統加配發登記簿；人員管制要記錄姓名、進入與離開時間。進出紀錄是個資，依公司個資政策訂保存期限，例如 6 到 12 個月，到期刪除。門被紙箱撐開是我在現場最常看到的畫面，裝一個門未關警報，成本不高，卻能讓門禁真正有效。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合格保全或管制中心，原文舉例 DIN 77200、VdS 3138；台灣實務上找具保全業執照的公司簽連線監控合約。只有 CCTV 錄影不等於入侵監控，因為沒有即時通報。線上教材提到原則上二十分鐘內介入，這個數字要寫進保全合約。評鑑員問回應時間時，你拿得出合約和每月出勤報告，比口頭保證有力一百倍。警報計畫要有防區對照、通知名單與處理步驟，並定期測試感測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洋蔥最內層。我看過最尷尬的場面：A 車廠稽核員在產線上指著 B 車廠的新車零件問「這是哪一家的？」現場瞬間安靜。所以客戶參訪前一定要規劃動線，沿線覆蓋其他客戶原型件。共用設備可分時段使用，切換客戶時清場。真的無法區隔，就取得客戶書面同意並存檔，這可以在 8.1.2 訂單專屬要求中一併議定。標籤用代碼，不直接寫客戶名稱與車型。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【答案】B
答案是 B。ISA 2027 刪除了原 ISA 6 的 8.3–8.5，測試車輛、活動、拍攝等主題改由 8.1.2 訂單專屬要求涵蓋。A 錯：分級由原型件擁有者的委託部門決定，供應商要以委託方分級為準。C 錯：8.2.3 的數字是至少三分鐘，不是十分鐘。D 錯：8.2.7 允許不區隔，但必須取得客戶的明確核准。互動方式：請大家舉手 1、2、3、4 選答，再請選錯的學員分享理由。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參考答案：8.1.8 所有訪客都要登記並在進入前完成保密義務，兩位顧問都沒有；8.1.9 鏡頭貼紙翹起，攜帶規範與離場檢查沒落實；8.1.10 原則禁止拍攝且須原始委託方放行；8.2.7 參訪動線經過他客戶原型件區；8.1.11 這已是洩密事件，要依與另一家車廠議定的程序通報，並要求刪除照片、留存刪除證據。評鑑員若發現，多半判不符合；若是常態而非個案，可能被視為系統性問題。分組討論 2 分鐘，請一組發表。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 15 分鐘講資料保護，ISA 第 9 章。先講三個前提：第一，它是資訊安全的補充，單獨評鑑資料保護模組不能取得 TISAX Label。第二，只有在 GDPR 第 28 條意義下的受託處理，也就是你代表客戶處理個資時才適用。第三，題目只有 Must，沒有 Should、沒有高或極高、也沒有成熟度，結果就是 yes/no。所以準備方式不同：不用證明 Level 3，而是每個 Must 都要拿得出具體文件與紀錄。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很多台灣廠商第一句話是：我們又沒有歐洲客戶的個資。結果一查，PLM 帳號、測試車行車紀錄、試駕員資料、對方工程師的 Email、車聯網的 VIN 與 GPS 軌跡全都是。只要你代表 OEM 處理這些資料，你在 GDPR 下就是處理者。Special data 指健康、生物特徵、宗教、工會、種族、基因、性傾向等特殊類別。要選哪個評鑑目標與等級，請以 OEM 要求與 ENX 最新 Participant Handbook 為準。先盤點，再說沒有。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這張是補充對照，讓台灣學員容易理解：GDPR 的控制者、處理者，大致對應個資法的委託機關與受託者，施行細則第 7、8 條也有依指示處理與委託監督的概念，所以一套流程可以同時滿足兩邊。最重要的提醒：72 小時通報監管機關是控制者的義務（GDPR 第 33 條第 1 項）；處理者依第 33 條第 2 項，是無不當延遲通知控制者。OEM 的 DPA 常約定更短時限，例如 24 或 48 小時，請以契約為準。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 Must 拆成三個檢查點：有政策、定期更新、管理階層核准。政策不用寫得像法律論文，但一定要讓稽核員看到三件事：寫的是你們公司、老闆簽過、最近有人看過。內容至少包含適用範圍（特別是受託處理客戶個資）、遵循的法規、資料保護原則、角色職責與違反處置。最常見的缺失是拿官網的隱私權聲明充數，那是對外告知，沒有涵蓋你代客戶處理個資的情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 Must 最多，我把它濃縮成四句。第一步是判定：依 GDPR 第 37 條，指派 DPO 是法定強制還是自願？不強制也要指定資料保護職能或類似角色，判定本身要留紀錄。聯絡資訊建議用 privacy@ 職務信箱，避免人員異動就失聯。監督要有文件紀錄，並定期向最高管理階層報告，可併入 ISMS 管理審查。我最怕聽到：個資負責人應該是法務吧？結果法務說 IT，IT 說 HR。指派要白紙黑字。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RoPA 要分兩份：第 30 條第 1 項是控制者用，例如你自己的 HR 資料；第 30 條第 2 項是處理者用，以客戶或委託案為單位，只放委託相關資訊，不要混入內部處理細節。TOMs 要對應到資訊安全問卷的具體措施，最好連到 ISA 控制項編號。我常請客戶做小測試：隨便點一個 OEM 專案，問 PM 這案子有哪些個資、放在哪、誰能看、何時刪。答得出來，RoPA 才算活的。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DPIA 通常是控制者主導，但處理者要知道哪些處理需要 DPIA，並定義好協助的職責與方式。初篩可看：特殊類別個資、大規模處理、系統化監控、新技術、跨資料集比對、自動化決策。像車內攝影機、生物特徵這類資料就是高風險訊號。客戶來要資料時，你能在一週內交出資料流程圖、TOMs 說明、次處理者清單與資安認證，OEM 對你的信任度會大加分。DPIA 結果可與 ISA 1.4.1 風險管理連動。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這條的核心是次委託：客戶對你使用次處理者要有同意權或異議權。所以新增次處理者前，要依 DPA 通知客戶，等異議期屆滿或取得書面同意才能啟用。我看過最經典的缺失：工程師為了趕交期，把客戶資料丟進免費的線上轉檔工具，那也是次處理者，而且客戶完全不知道。在請購單加一個勾選欄「是否涉及處理客戶個資」，勾選就觸發資料保護審查，簡單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把客戶 DPA 當成一份清單往下對：客戶要求你什麼，你就要求次處理者什麼，而且只能更嚴，不能更鬆。最常見的陷阱是事故通知時限：客戶要你 24 小時通知，你跟雲端廠商卻約 72 小時，你就不可能履行對客戶的承諾。每年對次處理者做評估，可收 ISO 27001、ISO 27701 或 TISAX 結果，高風險者安排稽核。聯絡人名冊包含 24 小時緊急聯絡方式，每半年確認一次。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台灣廠商以為資料在台灣就沒有跨境問題。對歐盟來說，你本身就是第三國，再往外傳，就是第三國的第三國。存取國也要算，例如海外的遠端維運與技術支援。當你作為資料輸出者，例如把資料再交給海外子公司，要用歐盟 SCC 簽約並做 TIA，評估目的地國政府存取風險與加密、假名化等補充措施。每一次新的第三國傳輸，都要判定是否需要客戶同意。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回覆當事人是控制者的責任，處理者的責任是讓控制者做得到。第一線同仁不用懂 GDPR 全部條文，只要記住一句話：有人來問自己的資料，立刻轉給個資窗口，不要自己回、不要直接刪。ARALE 的口訣是處理者三不：不自己回覆當事人、不超出指示處理、不延遲通知控制者。系統面要能依識別碼查詢、匯出、刪除並留紀錄，包含備份的處理說明。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流程六步：發現、內部通報、判定是否涉及個資與哪些客戶、依 DPA 時限通知客戶、處置與協助、紀錄與改善。資訊不完整也可以分階段補充，不要等查完才講。個資事故的黃金法則：先通知客戶，再慢慢查；通知慢了，客戶最在意的不是你被駭，而是你隱瞞。演練題目可用：員工誤寄含試駕員資料的 Excel 給錯誤的供應商，從發現到通知客戶全程計時。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跟原型件的 8.1.5、資安的 2.1.2 很像，但這裡要明確涵蓋個人資料與資料保護法規，只寫營業秘密不夠。稽核員最愛抽樣：從存取客戶資料的帳號清單抽三個人，請 HR 調出切結書，所以簽署清冊一定要能和帳號清單對得起來。流程設計上，把簽署納入到職檢核表，未簽署 IT 就不開通存取客戶資料的帳號。離職時提醒義務持續有效，並確認資料已返還與刪除。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重點是「依保護需求」差異化，而不是全公司看同一支影片。全員課程講基本觀念、處理者三不、通報管道；高保護需求專案成員講 DPA 重點、最小化、資料隔離與刪除；IT 管理員講特權帳號、存取客戶資料的核准與日誌、備份與刪除、證據保全。訓練不是看完就好，稽核員可能隨便抓一位 IT 同仁問：客戶要你刪掉某人的資料，你怎麼做？能答出流程，訓練才有效。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處理者最大的風險就是好心多做。客戶沒說要分析，你自己拿來分析，你就從處理者變成控制者，責任一口氣全上身。所以指示要從正式管道接收並記錄，超出契約或可能違法的指示要暫停並通知客戶。資料隔離是現場最容易抽到的：依客戶與專案分資料夾、AD 群組、資料庫 Schema，備份也要標記；測試環境不用真實個資。專案結束依 DPA 刪除或返還，含備份與次處理者端。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【答案】B
答案是 B。依 GDPR 第 33 條第 2 項，處理者在知悉個資外洩後應無不當延遲通知控制者，實務上以 DPA 約定的時限為準，常見 24 或 48 小時。A 是控制者的義務（第 33 條第 1 項），這也是 9.6.2 最常見的誤解。C 是否通知當事人由控制者判斷，處理者不要自己回覆當事人。D 違反黃金法則：先通知客戶，資訊不完整可以分階段補充。答完可順便回顧處理者三不原則。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 20 分鐘，把前面逐條讀完的 ISA 串成一個可執行的專案，並讓大家知道評鑑當天對面那位稽核員在想什麼。這段會比較實戰：導入路線圖、文件清單、受訪技巧、AL3 現場巡查路線、判定邏輯、常見缺失和 CAP 寫法。線上教材有完整的 Top 30 缺失表、RACI 表與自評 ISA 好壞範例，可以直接拿回公司用。時間提醒：留 5 分鐘給最後的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線上教材是九個階段，這裡濃縮成六步。最重要的提醒：成熟度 3 需要時間，要有證據顯示流程在一段較長期間內持續運作。我最怕客戶說：評鑑排下個月，我們這個月把文件寫完。文件寫完只是成熟度 2 的開始，建議新流程至少跑過一個完整週期，例如一季帳號審查、一次還原測試、一次內稽與管審。時程參考：已有 ISO 27001 約 3 到 6 個月，原型件 AL3 另加 2 到 6 個月，這不是 ENX 規定，只是輔導經驗。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完整清單在線上教材，有四十多項，從資安政策一路到原型件清冊與資料保護的處理活動紀錄，都對照到 ISA 控制項。這裡只秀前六項讓大家看格式。文件名稱可以依公司習慣調整，也可以合併，重點是每一個控制項都找得到對應的規範與運作紀錄。ARALE 的筆記：文件不用多，但要找得到、是最新版、有人核准、有紀錄證明真的有在用。建議回去後用這張清單做一次盤點。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鑑當天是展示的時刻。同樣的制度，準備好的團隊能清楚回答、快速出示證據；沒準備的團隊可能一句猜測的回答，就讓稽核員往更深處追。臨時偽造的紀錄一旦被發現，例如檔案建立時間是評鑑前一天，會嚴重影響對整個 ISMS 的信任。說法一致也很重要：人資說離職當天停帳號，IT 卻說隔週處理，就會被追查。建議指定一位證據調度員，並請總經理或廠長出席開場會議，哪怕十分鐘。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巡查路線請事先走一遍，用稽核員的眼睛看：垃圾桶裡有沒有圖面、會議室白板有沒有擦、原型件區的窗戶從外面看不看得到。我曾經在停車場就看到原型件區的捲門半開，還沒進門就知道 8.2.4 有問題。會議室與共用空間也會看：視訊設備、遺留文件、隔音與視線遮蔽。對應控制項：大門是 3.1.1、8.1.8、8.1.9；原型件區是 8.2.1 到 8.2.7；銷毀區是 3.1.3 與 8.1.13。巡查要安排陪同人員與門禁權限。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稽核員不是在找麻煩，而是用固定的邏輯判斷：目標、Must、Should、高極高、aspects、成熟度、系統性。我們照這個順序準備就好。成熟度 3 的證據長什麼樣子？以帳號審查為例：有程序定義頻率與負責人，是標準化；程序與人資離職流程有明確介面，是整合；有連續幾期的審查報告，是持續運作。只有程序沒紀錄是 2 以下。抽樣發現例外時，稽核員可能擴大抽樣，判斷是個案還是系統性問題。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線上教材整理了 Top 30，這兩頁挑 12 個。前三名是我在現場遇到頻率最高的：離職帳號沒即時停用、備份從沒做過還原測試、員工自己用沒核准的雲端或 AI 工具。評鑑前請先檢查這三題。要提醒的是，這些是缺失樣態，實際是否構成不符合、嚴重程度多少，取決於稽核員對目標達成、Must／Should 與保護需求的整體判斷。互動：請學員舉手，前三名裡你們公司中了幾個？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第二頁涵蓋人員、行動裝置、驗證、網路、供應商與原型件。最後一列把今天原型件那段串起來：8.1.2 沒取得客戶的分級、偽裝、運輸要求，以及 8.2.4 原型件區窗戶從外面看得見，這兩個在原型件評鑑中非常常見。5.2.7 在製造業特別要注意產線 OT 與辦公網的區隔，網路設備管理介面不要讓一般網段連得到。整張 Top 30 表可以當成評鑑前的自我檢查清單，建議回去後逐列打勾。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ARALE 的筆記：CAP 五寶是根因、措施、負責人、期限、有效性驗證，少一個都可能被退回。常見被退回的 CAP：根因寫人員疏忽、措施只寫加強宣導、沒有期限或負責人、沒有驗證方法、只處理被抽到那一筆沒有水平展開。追蹤評鑑可能是書面、遠端或現場；主要不符合通常要矯正確認後才取得正式標籤，次要不符合在 CAP 被接受後通常可先取得暫時性標籤。期限以稽核單位與 ENX 最新規則為準。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受訪問題：在稽核員面前互相指責，說法不一致，等於自己證明流程沒有介面。比較好的回答是坦承缺口並說明改善計畫。CAP 參考：水平展開檢查過去 12 個月全部離職人員，例如 38 名中 9 名延遲，並確認延遲期間無異常登入；根因是離職流程未系統化通知 IT、程序未定義停用時限；措施是程序明訂最後工作日停用、離職單自動開 IT 工單、每週自動比對 HR 與 AD；驗證是連續 3 個月零差異加內稽抽樣。這就是線上教材的 CAP 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用一分半鐘把三小時收斂成六句話。請學員一起念最後兩句：寫你真的有做的，證明你寫的；自評表就是評鑑當天的劇本，稽核員會照著你寫的內容逐句要證據。另外，原型件的 Label 與控制項對應、資料保護的評鑑目標，都請以客戶要求與 ENX 最新 Participant Handbook 為準。TISAX 不是一次性的專案，Label 有效期過後要重新評鑑，平常的紀錄就是下一次評鑑最好的準備。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體課講的是重點，完整內容在線上。文字教材每個控制項都有原文對照、白話解說、實務作法、稽核員可能問的問題與常見缺失，可以直接拿回公司當內稽檢查表。互動影音適合通勤時複習。課後測驗分資訊安全、原型件保護、資料保護三科，各 10 題，80 分及格，通過後可取得證書。提醒大家今天就登入試一下，有問題趁我還在現場可以問。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時間，預留約 4 到 5 分鐘。如果現場一時沒人發問，可以主動丟幾個常見問題暖場：第一，原型件 Label 申請範圍怎麼決定？回答要點：先確認客戶要求，再查 ENX 最新 Handbook。第二，我們只有台灣個資，需要資料保護 Label 嗎？回答要點：看是否代表歐盟客戶處理個資，以客戶要求為準。第三，ISO 27001 證書可以直接換 TISAX 嗎？回答要點：可沿用 ISMS 基礎，但要補 ISA 特有要求。時間到就收。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謝謝大家三個小時的參與。最後提醒三件事：第一，記得完成課後測驗，80 分及格才能取得證書。第二，回公司後先用 Top 缺失表和文件清單做一次自我檢查，再排導入路線圖。第三，評鑑目標、Label 與期限，一律以客戶要求與 ENX 最新文件為準。課後有個別問題，歡迎留下來聊，或透過課程平台聯繫。祝大家評鑑順利，一次就過！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 for TISAX 標準要求解說｜教材規劃製作：Allan Lo顧問 (www.123hi.org)｜Copyright © 2026 Allan Lo. All rights reserved.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://www.123hi.org" TargetMode="Externa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VDA ISA 2027.1｜TISAX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 for TISAX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標準要求解說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Information Security｜Prototype Protection｜Data Protection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條文解說 × 資安管理實務 × 稽核實務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173A5C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5166360"/>
            <a:ext cx="3931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　Allan Lo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ISMS／PIMS 輔導顧問・驗證稽核員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80760"/>
            <a:ext cx="6766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B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教材規劃製作：Allan Lo顧問（</a:t>
            </a:r>
            <a:pPr indent="0" marL="0">
              <a:buNone/>
            </a:pPr>
            <a:r>
              <a:rPr lang="en-US" sz="1000" u="sng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www.123hi.org</a:t>
            </a:r>
            <a:pPr indent="0" marL="0">
              <a:buNone/>
            </a:pPr>
            <a:r>
              <a:rPr lang="en-US" sz="1000" dirty="0">
                <a:solidFill>
                  <a:srgbClr val="A9BB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9BB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Copyright © 2026 Allan Lo. All rights reserved.</a:t>
            </a:r>
            <a:endParaRPr lang="en-US" sz="1000" dirty="0"/>
          </a:p>
        </p:txBody>
      </p:sp>
      <p:pic>
        <p:nvPicPr>
          <p:cNvPr id="8" name="Image 0" descr="/home/user/tisax/course/assets/img/ppt/allan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822960"/>
            <a:ext cx="2923467" cy="5486400"/>
          </a:xfrm>
          <a:prstGeom prst="rect">
            <a:avLst/>
          </a:prstGeom>
        </p:spPr>
      </p:pic>
      <p:pic>
        <p:nvPicPr>
          <p:cNvPr id="9" name="Image 1" descr="/home/user/tisax/course/assets/img/ppt/arale-fu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7360"/>
            <a:ext cx="3611880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2237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103120"/>
            <a:ext cx="64922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哈囉大家好～歡迎來到 ISA 2027 for TISAX 標準要求解說！接下來三小時，一起把 TISAX 搞懂！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892040"/>
            <a:ext cx="6400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 助教 ARALE</a:t>
            </a:r>
            <a:endParaRPr lang="en-US" sz="1600" dirty="0"/>
          </a:p>
        </p:txBody>
      </p:sp>
      <p:pic>
        <p:nvPicPr>
          <p:cNvPr id="6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914400"/>
            <a:ext cx="4045306" cy="5120640"/>
          </a:xfrm>
          <a:prstGeom prst="rect">
            <a:avLst/>
          </a:prstGeom>
        </p:spPr>
      </p:pic>
      <p:sp>
        <p:nvSpPr>
          <p:cNvPr id="8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課程議程（180 分鐘）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段落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開場與 INTRO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TISAX 概論、ISA 2027 結構與成熟度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 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 第1章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政策與組織（14 項）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 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 第2–4章＋休息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人資、實體、IAM（11 項）＋休息 10 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 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 第5–7章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IT／網路安全、供應商、法遵（20 項）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 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PP＋DP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原型件保護（20 項）、資料保護（12 項）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稽核實務與總結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受稽技巧、常見缺失、CAP、總結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講師與助教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Allan Lo（Allan 顧問）：ISMS／PIMS 輔導顧問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兼任驗證公司 Auditor：輔導與稽核雙視角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專長資訊安全與企業 MIS 管理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輔導過汽車零組件、模具與電子供應商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課堂任務：解說條文、分享實例、提醒常見缺失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41782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578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助教 ARALE：代表學員發問、吐槽與整理重點</a:t>
            </a:r>
            <a:endParaRPr lang="en-US" sz="1900" dirty="0"/>
          </a:p>
        </p:txBody>
      </p:sp>
      <p:pic>
        <p:nvPicPr>
          <p:cNvPr id="21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2679845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今天的學習目標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TISAX 機制：ENX 註冊、範圍、AL2/AL3、標籤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ISA 欄位：Must、Should、高／極高、SGA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掌握成熟度 0–5、目標成熟度 3 與 cutback 邏輯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逐條理解 IS 1–7 章、原型件保護與資料保護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能準備自評與證據，並撰寫有效的 CAP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TISAX 概論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VDA、ENX、評鑑流程、等級、標籤與缺失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背景：VDA、ENX、ISA 與 TISAX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德國汽車工業協會，以 VDA ISA 名義發行資訊安全檢核表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078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9380" y="1645920"/>
            <a:ext cx="548640" cy="54864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93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518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ENX 協會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ENX Association：營運 TISAX、認可稽核單位、維護規則與 Portal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VDA ISA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ENX 工作小組編寫，以 ISO 27001 為基礎，加上原型件與資料保護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4078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9380" y="4114800"/>
            <a:ext cx="548640" cy="548640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518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TISAX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ISA 的評鑑與結果交換機制：評一次、多家客戶共用結果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TISAX 與 ISO 27001 的差異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比較項目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ISO/IEC 27001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TISAX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性質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管理系統標準，取得驗證證書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評鑑與交換機制，取得標籤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檢核依據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條文 4–10 章＋附錄 A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VDA ISA：資安＋原型件＋資料保護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判定方式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符合／不符合（依 SoA）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成熟度 0–5，目標成熟度 3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結果公開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證書可公開查詢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ENX Portal，自行決定分享對象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產業特有要求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原型件保護、資料保護、客戶要求傳遞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參與者流程：從註冊到分享標籤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65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96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ENX 註冊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ENX Portal 註冊公司資料並同意參與條款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8389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078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179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179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4050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範圍與目標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794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選定據點與評鑑目標，先向客戶確認所需標籤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603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292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93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93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2264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選稽核單位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ENX 認可的 audit provider 選擇並簽約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817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07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07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0478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自評 ISA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3222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填成熟度、實施說明與參考文件，評鑑前提交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3031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720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821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821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8692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評鑑與 CAP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1436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評鑑後針對缺失提出矯正措施計畫並經接受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71245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593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035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03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0690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取得標籤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0965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矯正確認後在 ENX Portal 分享，一般有效三年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評鑑等級 AL1／AL2／AL3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等級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一般作法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適用情境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AL1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僅自評，TISAX 不因 AL1 核發標籤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內部自我檢查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AL2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合理性檢查：文件與訪談，多為遠端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Info high、Data 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AL3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深入查核：通常到現場觀察與抽樣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Info very high、原型件等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評鑑目標與標籤（常見對照）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評鑑目標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常見標籤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等級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主要涵蓋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Info high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Confidential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資安頁籤含高（C）要求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Info very high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Strictly confidential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資安頁籤含極高（C）要求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Availability (very) high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(Very) high availability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AL2／AL3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資安頁籤含高／極高（A）要求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 parts／vehicles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同名標籤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另有 Test vehicles 等目標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資料保護（GDPR 第 28 條）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Special data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Special data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AL3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涉及特殊類別個資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缺失類別（Findings）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概念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對標籤的影響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Major NC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目標未達成或 Must 明顯未落實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矯正確認後才取得正式標籤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Minor NC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大致運作，部分要求未完全滿足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CAP 被接受後常可先拿暫時標籤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Observation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目前符合，但有潛在風險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不影響標籤，建議改善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Room for improvement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符合，但有更好作法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不影響標籤，屬建議性質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標籤有效期與暫時性標籤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TISAX 標籤一般有效三年，到期前需重新評鑑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期間範圍或評鑑目標改變，可能需要額外評鑑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無主要不符合＋CAP 被接受：常可先取得暫時性標籤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暫時性標籤有效期較短，矯正評鑑後換發正式標籤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條件與期限以 ENX 最新規則為準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SGA 簡化集團評鑑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對象：多據點、集中管理且成熟度高的大型組織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概念：先評總部與集中流程，再抽樣評鑑據點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另有 SGA 專屬要求欄位，只有走 SGA 才適用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例：1.2.1 ISMS 由對所有據點有權限的單位核准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例：1.2.2 須有對管理系統負總責的具名人員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41782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申請資格以 ENX 最新規則為準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評鑑結果沒有主要不符合、只有次要不符合，且矯正措施計畫已被接受，一般情況下會如何？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直接取得三年期正式標籤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常可先取得有效期較短的暫時性標籤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必須整個重新評鑑一次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標籤直接失效，不能分享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 的結構與判讀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頁籤、欄位、Must/Should、保護需求、成熟度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2027.1 活頁簿頁籤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頁籤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Welcome／Cover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用途說明；封面填組織、範圍、D-U-N-S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資訊／組織填寫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Maturity levels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成熟度 0–5 定義，目標一律為 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Definitions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關鍵詞（Must、Should、保護等級）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Information Security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1–7 章，以問題呈現並評成熟度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實施要求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Proto／Data Protection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8 章評成熟度；第 9 章 yes/no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實施要求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Results 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結果、KPI 範例、授權、變更紀錄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結果與資訊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控制項欄位怎麼讀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判讀重點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Control question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 what extent…，答案是成熟度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Objective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稽核員最終判斷目標是否達成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Must／Should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Must 無例外；Should 原則上必須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高／極高保護需求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範圍具高／極高需求時額外適用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SGA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僅適用採簡化集團評鑑的組織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可能問題／可能證據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訪談題庫與證據清單的起點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Must、Should 與高／極高要求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原文定義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實務判讀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Must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嚴格要求，沒有任何例外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缺一項就可能被判不符合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Should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原則上必須；有正當理由可偏離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偏離要有書面理由與影響評估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高保護需求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範圍具高保護需求時須額外符合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 Info high 等目標時適用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極高保護需求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範圍具極高需求時須額外符合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同時也須符合高保護需求要求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保護需求等級與 C・I・A 標記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normal 正常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潛在損害有限且可控制；例：機密等級 internal（內部）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078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9380" y="1645920"/>
            <a:ext cx="548640" cy="54864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93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518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high 高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潛在損害可能相當大；例：confidential（機密）或高可用性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very high 極高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損害可能威脅組織生存或達災難程度；例：strictly confidential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4078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9380" y="4114800"/>
            <a:ext cx="548640" cy="548640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518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C・I・A 標記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高／極高要求標示保護目標：C 機密性、I 完整性、A 可用性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「以下面向需考量」的意義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許多要求後接一串需考量的子項目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每個面向都要做出有意識、有理由的決定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決定：是否實施、實施到什麼程度、如何實施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不是「全部都要做」，而是「全部都要想過」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稽核時受稽者要能說明理由與最後決定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41782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例：2.1.4 行動辦公列出五個需考量的面向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成熟度模型 0–5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等級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名稱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重點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Incomplete 不完整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流程不存在、未遵循或無法達成目標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Performed 已執行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有做，但非正式、文件化不足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Managed 已管理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有流程文件與實施證據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Established 已建立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標準流程整合入體系，且長期持續運作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Predictable 可預測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以關鍵數據與閾值（KPI）監控有效性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Optimizing 最佳化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以持續改善為主要目標，專責資源推動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目標成熟度 3 與 cutback 計算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控制項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評鑑結果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cutback 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1.2.2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1.3.2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不含 cutback：17÷5＝3.4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 cutback：14÷5＝2.8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 主要變更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控制項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 變更重點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政策提供給員工：Should 升為 Must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1.2.4 → 6.1.3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外部 IT 服務商責任改編號至 6.1.3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2.1.3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新增高階主管／經營層專屬訓練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4.1.1／4.1.2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刪高保護時間限制；強密碼成獨立項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6.1.1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驗證合約遵循由 Must 移至高保護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原型件保護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全面重排：8.1 組織、8.2 實體環境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五個控制項評鑑結果為 4、3、2、5、3，依 ISA Results 規則，含 cutback 的平均是多少？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2.6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 第1章 政策與組織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1.1–1.6　14 個控制項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資訊安全政策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資訊安全政策可取得（具備並可供使用）的程度為何？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資安要求已確定、文件化並對齊組織目標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政策經管理階層核准，含資安目標與重要性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政策以適當形式供員工取得（2027 升 Must）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相關變更通知員工與外部業務夥伴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2336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以組織策略為基礎，考量法規與合約要求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載明違反後果；建立其他相關安全政策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定期審查並視需要修訂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先建利害關係人資安要求清單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政策發布於 intranet 資安專區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改版公告並收集員工已讀紀錄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隨機問員工：政策在哪裡看？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範本照抄，與公司實況不符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駐廠外包人員未被告知改版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資訊安全管理（ISMS）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組織內部對資訊安全進行管理的程度為何？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已定義 ISMS 範圍並確定對 ISMS 的要求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管理階層已委任並核准 ISMS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已確定適用控制（SoA 或已填 ISA 目錄）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提供監督手段，管理階層定期審查有效性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範圍聲明與 TISAX 評鑑範圍一致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自評每題填成熟度與證據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每年管理審查，決議追蹤結案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ISMS 範圍與評鑑範圍不一致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管審只有簽到，無輸入與決議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N/A 未說明理由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資訊安全責任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資訊安全責任的組織安排程度為何？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資安責任已定義、文件化並指派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負責人明確指定、具備資格並獲授權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執行任務所需資源可供使用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內部與相關業務夥伴知道聯絡窗口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23367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定義並文件化適當的資安組織架構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 ISMS 外的安全相關角色（如 DPO）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266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5595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建立職責分離，避免利益衝突（C,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總經理任命書寫明授權與匯報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資安聯絡信箱公告於官網與合約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RACI 表與職責分離矩陣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負責人無訓練紀錄、無預算工時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窗口只有內部人員知道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主管稽核自己負責的流程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專案中的資訊安全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專案中考量資訊安全要求的程度為何？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專案依資訊安全要求進行分類（分級）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專案分類的程序與準則已文件化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早期依程序做風險評鑑，變更時重做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依已識別風險推導措施並納入專案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451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措施定期審查，準則變更時重評（C,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專案啟動單加入資安分級欄位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Kick-off 做簡化版風險評鑑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專案清單標示分級與評鑑日期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只做研發專案，漏 IT 與物流專案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客戶提高保密等級卻未重評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宣稱沒有專案而標 N/A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資訊資產的識別與登錄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資訊資產被識別與登錄的程度為何？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已識別並登錄資訊資產及其他安全相關資產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已識別並登錄處理這些資訊的支援資產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資訊資產目錄已對應其支援資產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每個資訊資產皆已指派負責人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資產目錄定期審查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從核心流程盤點，以類別登錄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 設備與雲端服務一併納入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MDM 或盤點工具比對差異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只有財產清冊，沒有資訊資產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漏雲端服務與產線 OT 設備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現場抽查設備不在清冊中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資訊分級與保護需求管理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資訊資產依其保護需求進行分級與管理的程度為何？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一致的分級架構，至少涵蓋機密性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依既定準則評估資產並歸入分級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依分級訂定並實施支援資產處理規範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將完整性與可用性保護目標納入考量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四級：公開／內部／機密／極機密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處理矩陣：標示、傳送到銷毀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敏感度標籤搭配 DLP 規則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有分級辦法，清冊卻無分級欄位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極機密圖面放全員可讀資料夾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報廢硬碟無銷毀證明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IT 服務的評估與核准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確保僅使用經評估與核准的外部 IT 服務處理組織資訊的程度？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未經評估並落實資安要求前，不得使用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評估考量服務風險評鑑及法規、合約要求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服務須與所處理資訊的保護需求相符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建立考量保護需求的核准程序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文件化外部 IT 服務及其核准狀態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定期驗證僅使用已核准的服務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評估表註明可處理的最高分級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公告已核准服務清單與禁用清單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CASB 或 Proxy 日誌找影子 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免費傳檔網站傳送客戶圖面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核准未標示可處理分級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從未定期驗證實際使用情形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軟體的評估與核准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確保僅使用經評估與核准的軟體處理組織資訊的程度為何？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023217"/>
          </a:xfrm>
          <a:prstGeom prst="roundRect">
            <a:avLst>
              <a:gd name="adj" fmla="val 5423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65745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軟體安裝或使用前須經核准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考量：限定情境或角色、符合資安要求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考量：使用權與授權、來源與信譽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維護工具等特殊用途軟體同樣須核准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60577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154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08049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確定需管理的軟體類型（韌體、驅動等）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建受保護的軟體儲存庫，定期審查核准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掌握軟體版本與修補等級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3671"/>
            <a:ext cx="6812280" cy="728529"/>
          </a:xfrm>
          <a:prstGeom prst="roundRect">
            <a:avLst>
              <a:gd name="adj" fmla="val 15062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498535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791143"/>
            <a:ext cx="6492240" cy="3627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極高：確定額外使用要求，如控管監控（C,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白名單搭配受保護的安裝來源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移除本機管理員，限制未核准執行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維護工具限期、限人個別申請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使用者可自行安裝任何軟體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廠商維護工具未核准即連 PLC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安裝檔放在全員可寫共用夾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1.4.1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資訊安全風險管理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資訊安全風險被管理的程度為何？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定期及因應事件執行風險評鑑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適當評估風險（如可能性與潛在損害）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資訊安全風險已文件化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每個風險皆指派風險擁有者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2336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建立風險識別、評估與處理的程序與準則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處理措施與負責人文件化並追蹤狀態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環境變更時及時重新評估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風險登錄表含擁有者與殘餘風險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事件驅動重評並記錄觸發原因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先挑 20–40 個關鍵風險情境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風險登錄表三年未更新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風險擁有者全寫 IT 部門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高風險無措施、負責人與期限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資訊安全符合性審查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確保程序與流程符合資訊安全要求的程度為何？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驗證整個組織的政策遵循情形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定期審查資訊安全政策與程序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定期驗證技術要求遵循，結果記錄保存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啟動並追蹤偏差的矯正措施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2336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有審查計畫，涵蓋時程、範圍與控制項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年度稽核計畫分年涵蓋全部控制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每季弱點掃描、每月合規報表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缺失開矯正單追蹤至結案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只查文件，不查實作與技術設定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去年缺失至今未結案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稽核員稽核自己負責的流程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ISMS 的獨立審查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ISMS 由獨立機構（單位）審查的程度為何？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由獨立且具能力的單位定期執行審查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發生根本性變更後也須執行審查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啟動並持續追蹤偏差的矯正措施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審查結果文件化並向管理階層報告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每年外部顧問或集團稽核室審查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定義根本性變更清單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27001 稽核報告可作證據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建置顧問兼任獨立審查員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只靠三年一次的 TISAX 評鑑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廠區合併後未安排審查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1.6.1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安全事件與觀察的通報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與資訊安全相關的事件或觀察被通報的程度為何？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023217"/>
          </a:xfrm>
          <a:prstGeom prst="roundRect">
            <a:avLst>
              <a:gd name="adj" fmla="val 5423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65745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定義應通報的事件與觀察，相關人皆知悉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涵蓋人員、實體、IT／網路、供應商四類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依風險建立通報機制，潛在通報者皆知悉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有與通報者溝通的適當管道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60577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154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08049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單一窗口；依嚴重度提供即時與非同步管道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員工有通報義務並受訓；外部也能通報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建立對通報者的回饋程序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3671"/>
            <a:ext cx="6812280" cy="728529"/>
          </a:xfrm>
          <a:prstGeom prst="roundRect">
            <a:avLst>
              <a:gd name="adj" fmla="val 15062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498535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791143"/>
            <a:ext cx="6492240" cy="3627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極高：定期測試與演練通報機制（C,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資安信箱＋24 小時緊急電話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郵件一鍵回報可疑信件按鈕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官網公告外部通報管道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定義只涵蓋 IT 類事件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產線員工不知道要通報給誰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通報者從未收到處理回饋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1.6.2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已通報安全事件的管理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已通報的安全事件受到管理的程度為何？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已通報事件無不當延遲地處理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確保對已通報事件做出適當反應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經驗教訓納入持續改善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29014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38387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676486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事件分類、定性並排定優先順序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依類別指派責任，含協調、代理與溝通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涉犯罪部分通報主管機關的策略（C, I, A）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12108"/>
            <a:ext cx="6812280" cy="1160092"/>
          </a:xfrm>
          <a:prstGeom prst="roundRect">
            <a:avLst>
              <a:gd name="adj" fmla="val 945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0669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359580"/>
            <a:ext cx="6492240" cy="7943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回應時限、升級、通報義務、溝通策略（C, 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極高：定期演練各類別事件含升級（A）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工單記錄分類、優先序與根因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外部通報義務與聯絡人清單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重大事件結案後召開事後檢討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紀錄看不出處理過程與根因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未定回應時限，拖兩天才通知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負責人休假無代理人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1.6.3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危機情境的準備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組織對處理危機情境的準備程度為何？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有危機應變與復原計畫並具備所需資源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危機管理責任與權限已定義、文件化並指派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負責人員已明確指定並具備資格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29014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38387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676486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偵測危機徵兆，建立啟動與升級程序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策略目標優先序：生命健康、核心業務、資安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核准危機小組與政策程序，定期審查更新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12108"/>
            <a:ext cx="6812280" cy="1160092"/>
          </a:xfrm>
          <a:prstGeom prst="roundRect">
            <a:avLst>
              <a:gd name="adj" fmla="val 945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0669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359580"/>
            <a:ext cx="6492240" cy="7943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識別三類危機情境；備援、溝通、桌上演練（A）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極高：含決策者的定期危機演練（A）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總經理召集跨部門危機管理小組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離線聯絡清單與危機工具包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每年勒索軟體情境桌上演練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IT 災難復原計畫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聯絡資訊全部存放在 M365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小組成員離職未更新代理人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 中，1.1.1 資訊安全政策的哪一項要求由 Should 升級為 Must？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政策中載明不遵守的後果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政策以適當形式提供員工取得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建立政策的定期審查機制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建立其他相關的安全政策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情境討論：免費轉檔網站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95528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498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設計部小陳趕著交件，把客戶標示 Confidential 的圖面上傳到免費線上 PDF 轉檔網站，再用個人雲端分享給協力廠商。公司已核准服務清單只有 M365，從未檢查實際使用情形；小陳說沒人告訴過他不能這樣做。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955280" cy="1691640"/>
          </a:xfrm>
          <a:prstGeom prst="roundRect">
            <a:avLst>
              <a:gd name="adj" fmla="val 648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00600"/>
            <a:ext cx="7498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這個情境涉及哪些控制項？稽核員會怎麼判定？</a:t>
            </a:r>
            <a:endParaRPr lang="en-US" sz="1800" dirty="0"/>
          </a:p>
        </p:txBody>
      </p:sp>
      <p:pic>
        <p:nvPicPr>
          <p:cNvPr id="9" name="Image 0" descr="/home/user/tisax/course/assets/img/ppt/allan-th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463040"/>
            <a:ext cx="2155881" cy="2651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86968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先別急著看答案，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 3 分鐘！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 第2–4章 人資、實體、IAM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2.1、3.1、4.1–4.2　11 個控制項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敏感工作領域人員的資格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確保從事敏感工作領域之員工具備適當資格的程度為何？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已判定敏感的工作領域與職務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依職務說明訂定對員工的要求並確實符合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已驗證潛在員工的身分（如查驗證件）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以面談等簡易方法驗證個人適任性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敏感職務依風險執行延伸適任性驗證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建立敏感職務清單與查核等級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背景查核先取得當事人書面同意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派遣合約要求同等查核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未判定敏感職務，查核無依據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身分查驗未留下任何紀錄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派遣人員未經查核即上線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人員遵守資安政策的契約約束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所有人員以契約約束其遵守資訊安全政策的程度為何？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保密義務已生效（涵蓋所有人員）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遵守資訊安全政策的義務已生效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保密義務延伸至僱傭關係結束後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僱傭契約中納入資訊安全相關事項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描述處理違反義務的程序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報到當天簽保密及資安遵循書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工作規則納入資安與懲處條款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每年以在職名冊比對簽署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派遣與實習生沒有保密約束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離職後無保密義務與提醒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外傳圖面僅口頭告誡無紀錄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人員資安認知與教育訓練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人員對處理資訊所產生之風險具備認知並接受訓練的程度為何？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員工已接受訓練並具備資安認知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訓練規劃涵蓋七主題並經管理階層核准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識別目標族群（含高階主管、產線人員）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定期及依事件執行、留紀錄、知道窗口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新人到職一週內完成基礎訓練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每季釣魚演練，點擊者安排補訓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產線早會五分鐘資安宣導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只有新人訓練，在職多年未訓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主管與產線人員上同一套課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員工不知道中毒要找誰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行動辦公管理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行動辦公受到規範的程度為何？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023217"/>
          </a:xfrm>
          <a:prstGeom prst="roundRect">
            <a:avLst>
              <a:gd name="adj" fmla="val 5423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65745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已判定並落實行動辦公要求，需考量：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私人環境（居家、coworking）與公共環境行為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電子與紙本資訊安全處理；公共環境防竊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安全存取組織 IT 服務的措施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60577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154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08049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出差時的措施（如官方機關檢查）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前往資安高風險國家時的措施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提升員工的資安認知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3671"/>
            <a:ext cx="6812280" cy="728529"/>
          </a:xfrm>
          <a:prstGeom prst="roundRect">
            <a:avLst>
              <a:gd name="adj" fmla="val 15062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498535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791143"/>
            <a:ext cx="6492240" cy="3627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防止被竊聽與被偷看的保護措施（C）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全碟加密＋VPN／ZTNA 搭配 MFA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機密紙本原則上不得帶回家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高風險國家用出差專用筆電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允許居家辦公卻無書面規範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VPN 僅以帳號密碼登入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合約禁外部處理，規範未反映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安全區域管理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為保護資訊資產而管理安全區域的程度為何？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023217"/>
          </a:xfrm>
          <a:prstGeom prst="roundRect">
            <a:avLst>
              <a:gd name="adj" fmla="val 5423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65745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依處理要求建立安全區域規劃，含實體條件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安全區域規劃涵蓋收貨與出貨區域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已落實所定義的保護措施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所有相關人員皆知安全區域行為準則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60577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154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08049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門禁核發撤銷程序；訪客登記與陪同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行動設備攜入政策；網路元件防未授權存取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外部場所（倉庫、測試場等）納入規劃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3671"/>
            <a:ext cx="6812280" cy="728529"/>
          </a:xfrm>
          <a:prstGeom prst="roundRect">
            <a:avLst>
              <a:gd name="adj" fmla="val 15062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498535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791143"/>
            <a:ext cx="6492240" cy="3627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防止簡易竊聽與偷看的保護措施（C）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顏色分區平面圖＋區域管理表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離職當天撤銷門禁並每年審查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高保護區禁拍照、訪客全程陪同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收貨區司機可直入辦公區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機房門被門擋撐開未上鎖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離職員工門禁卡仍然有效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3.1.3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支援資產的處理管理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支援資產的處理受到管理的程度為何？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已判定並落實支援資產的處理要求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涵蓋運送、存放、維修、遺失、歸還、報廢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報廢依標準，如 ISO 21964 至少等級 4（C）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送修前移除或加密儲存媒體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租賃事務機歸還前清除硬碟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上鎖機密回收箱並取得銷毀證明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報廢電腦未清除即交回收商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長條碎紙機達不到安全等級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回收紙箱裡滿是報價單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3.1.4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 IT 設備與行動儲存裝置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 IT 設備與行動資料儲存裝置的處理受到管理的程度為何？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已判定並落實行動設備與儲存裝置要求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考量加密與存取保護（PIN、密碼）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考量標示，含在客戶面前使用時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設備已登記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451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行動儲存裝置全面加密或同等措施（C, I）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筆電全碟加密並由 MDM 回報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僅允許已登記的加密 USB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資產標籤使用中性編號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主管與研發筆電未加密未列管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產線用個人隨身碟拷資料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筆電貼著客戶專案名稱貼紙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識別工具的使用管理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識別工具的使用受到管理的程度為何？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管理識別工具整個生命週期，需考量：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製作、交付、歸還與銷毀；有效期限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可追溯性；遺失的處理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識別工具只能在受控條件下製作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451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遺失時封鎖或使其失效的策略（C,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識別工具清冊：哪張卡在誰手上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外包門禁卡設到期日自動失效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離職當天繳回並同步停用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鑰匙由各部門自行打製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訪客證未編號、未回收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遺失卡片隔週才通報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4.1.2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使用者存取 IT 服務與系統的安全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使用者存取 IT 服務與 IT 系統的安全程度為何？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依風險評鑑選定使用者驗證程序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考量攻擊情境（如可由網際網路直接存取）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驗證程序符合公認的資安最佳實務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29014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38387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676486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依業務與資安需求定義並落實驗證程序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至少使用符合公認實務的強密碼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特權帳號用更高等級驗證（PAM、2FA）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12108"/>
            <a:ext cx="6812280" cy="1160092"/>
          </a:xfrm>
          <a:prstGeom prst="roundRect">
            <a:avLst>
              <a:gd name="adj" fmla="val 945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0669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359580"/>
            <a:ext cx="6492240" cy="7943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補充措施：異常監控、自動登出等（C, 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極高：存取前強驗證，如雙因子（C, I）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系統驗證方式對照表附風險依據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對外服務全面 MFA，避免 SMS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管理員使用獨立特權帳號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VPN 與 Webmail 僅帳密登入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網域管理員未啟用 MFA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答「廠商預設就是這樣」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4.1.3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使用者帳號與登入資訊管理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使用者帳號與登入資訊受到安全管理與使用的程度為何？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帳號建立、變更與刪除；唯一且個人化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共用帳號受規範；離職後立即停用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定期審查帳號；安全提供登入資訊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落實登入資訊政策（不揭露、不寫下等）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2336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停用預設帳密，並以技術防止預設密碼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四眼原則核准；服務商帳號任務後停用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服務帳號禁互動登入；審查客戶系統帳號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離職單觸發當日停用帳號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初始密碼分管道交付、首登變更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新設備上線檢核：改預設密碼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離職帳號數週後仍能登入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 共用帳號可改資料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交換器與 PLC 仍用預設密碼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存取權限的指派與管理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存取權限的指派與管理程度為何？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842477"/>
          </a:xfrm>
          <a:prstGeom prst="roundRect">
            <a:avLst>
              <a:gd name="adj" fmla="val 5955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4767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權限管理含申請、審查與核准程序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遵循最小權限原則，不再需要時撤銷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定期審查一般、特權與技術帳號權限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審查範圍也包含客戶 IT 系統中的權限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79837"/>
            <a:ext cx="6812280" cy="1447800"/>
          </a:xfrm>
          <a:prstGeom prst="roundRect">
            <a:avLst>
              <a:gd name="adj" fmla="val 757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63470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927309"/>
            <a:ext cx="6492240" cy="108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訂定授權策略，以角色依職責分配權限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一般使用者帳號不授予特權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職責變更後更新存取權限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119077"/>
            <a:ext cx="6812280" cy="1053123"/>
          </a:xfrm>
          <a:prstGeom prst="roundRect">
            <a:avLst>
              <a:gd name="adj" fmla="val 1041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1739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466549"/>
            <a:ext cx="6492240" cy="68736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由內部資訊擁有者核准權限（C, 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極高：內容層級加密並每季審查（C）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角色權限矩陣＋AD 群組授權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特權帳號每季審查權限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審查由資訊擁有者確認簽核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資料夾授權給 Everyone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調職後權限持續累積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自行審查、自行蓋章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4.1.3，員工離職（例如僱傭契約終止）後，其使用者帳號應如何處理？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天內停用即可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立即停用（Must 要求）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保留給主管繼續收信使用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等下次帳號審查時再處理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情境討論：離職一個月後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95528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498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研發工程師阿明離職一個月。公司 AD 帳號已在離職當天停用，但客戶通知其 OEM 入口網站帳號仍有登入紀錄；總務發現他的門禁卡未繳回仍有效，公司筆電則在他家完成交接後才以一般包裹寄回。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955280" cy="1691640"/>
          </a:xfrm>
          <a:prstGeom prst="roundRect">
            <a:avLst>
              <a:gd name="adj" fmla="val 648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00600"/>
            <a:ext cx="7498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這個情境有哪些控制項的缺口？公司應怎麼改善？</a:t>
            </a:r>
            <a:endParaRPr lang="en-US" sz="1800" dirty="0"/>
          </a:p>
        </p:txBody>
      </p:sp>
      <p:pic>
        <p:nvPicPr>
          <p:cNvPr id="9" name="Image 0" descr="/home/user/tisax/course/assets/img/ppt/allan-th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463040"/>
            <a:ext cx="2155881" cy="2651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86968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先別急著看答案，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 3 分鐘！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休息 10 分鐘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起來走走、喝口水，讓眼睛休息一下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回來後進入第 5 章 IT／網路安全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想一想：你們公司的離職帳號多久停用？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有問題可以找 ARALE 或 Allan 聊聊</a:t>
            </a:r>
            <a:endParaRPr lang="en-US" sz="2100" dirty="0"/>
          </a:p>
        </p:txBody>
      </p:sp>
      <p:pic>
        <p:nvPicPr>
          <p:cNvPr id="15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280160"/>
            <a:ext cx="3973068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5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 第5章 IT／網路安全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5.1–5.3　15 個控制項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用勒索軟體劇本串起第5章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29968" cy="3931920"/>
          </a:xfrm>
          <a:prstGeom prst="roundRect">
            <a:avLst>
              <a:gd name="adj" fmla="val 5405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7864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97864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26080"/>
            <a:ext cx="18105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75564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VPN 漏洞、釣魚 → 5.2.5、5.1.2、5.2.3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07208" y="1828800"/>
            <a:ext cx="2029968" cy="3931920"/>
          </a:xfrm>
          <a:prstGeom prst="roundRect">
            <a:avLst>
              <a:gd name="adj" fmla="val 5405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16936" y="2926080"/>
            <a:ext cx="18105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橫向移動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657600"/>
            <a:ext cx="175564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平面網路取得網管權限 → 5.2.7 區隔、5.2.4 日誌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18888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65776" y="1828800"/>
            <a:ext cx="2029968" cy="3931920"/>
          </a:xfrm>
          <a:prstGeom prst="roundRect">
            <a:avLst>
              <a:gd name="adj" fmla="val 5405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50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926080"/>
            <a:ext cx="18105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破壞防線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3657600"/>
            <a:ext cx="175564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關防毒、刪備份 → 5.2.3、5.2.8／5.2.9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77456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24344" y="1828800"/>
            <a:ext cx="2029968" cy="3931920"/>
          </a:xfrm>
          <a:prstGeom prst="roundRect">
            <a:avLst>
              <a:gd name="adj" fmla="val 5405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73568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73568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2" y="2926080"/>
            <a:ext cx="18105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加密勒索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3657600"/>
            <a:ext cx="175564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ERP、MES、產線被加密 → 5.2.8 持續運作、RTO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36024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82912" y="1828800"/>
            <a:ext cx="2029968" cy="3931920"/>
          </a:xfrm>
          <a:prstGeom prst="roundRect">
            <a:avLst>
              <a:gd name="adj" fmla="val 5405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32136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32136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926080"/>
            <a:ext cx="18105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復原改善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3657600"/>
            <a:ext cx="1755648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乾淨備份依序還原 → 5.2.9；事後檢討 → 5.2.1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加密程序的管理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加密程序的使用受到管理的程度為何？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所有加密程序（加密、簽章、雜湊、協定）符合公認產業標準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在法律允許範圍內，提供應用領域所需安全性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定義並實施加密應用概念：方法、金鑰長度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金鑰完整生命週期：產生、儲存到停用、刪除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451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確定並滿足金鑰主權，尤其外部處理時（C, I）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政策列核准／禁用演算法（TLS 1.2 以上）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BitLocker 復原金鑰集中託管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憑證清冊＋到期前 30 天告警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VPN／網站仍開 TLS 1.0/1.1 或 WEP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復原金鑰只在使用者或離職者手上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雲端高保護資料未評估金鑰主權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5.1.2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傳輸中資訊的保護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資訊在傳輸過程中受到保護的程度為何？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識別並文件化用於傳輸資訊的網路服務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依分級定義並實施網路服務使用政策與程序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實施保護傳輸內容免於未授權存取的措施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29014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38387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676486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確保正確定址與正確傳輸（防寄錯）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電子資料交換依分級採內容或傳輸加密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遠端存取：加密、驗證強度、權限授予與終止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12108"/>
            <a:ext cx="6812280" cy="1160092"/>
          </a:xfrm>
          <a:prstGeom prst="roundRect">
            <a:avLst>
              <a:gd name="adj" fmla="val 945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0669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359580"/>
            <a:ext cx="6492240" cy="7943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資訊至少傳輸加密，或同等有效措施（C）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極高：資訊以內容加密形式傳送（C）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《資訊傳輸管道清冊》含可傳最高分級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Forced TLS、DLP、外部收件者警示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VPN／ZTNA 強制 MFA，廠商限時開啟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加密 ZIP 密碼寫在同一封信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研發用個人雲端與客戶交換圖面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VPN 無 MFA，離職帳號仍可登入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變更管理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變更受到管理的程度為何？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確定並滿足組織、業務流程及 IT 系統變更的資安要求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正式核准程序與資安影響評估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影響資安的變更須經規劃與測試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考量故障時的回退（fallback）程序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451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變更期間及之後，驗證資安要求仍符合（C,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區分一般／標準／緊急變更與核准層級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變更單含影響評估、測試、回退、驗證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 變更與生產協調並保留舊程式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防火牆規則變更無申請與核准紀錄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緊急變更過多且未事後補核准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變更後日誌中斷數週未被發現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開發、測試與營運環境分離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開發與測試環境與營運環境分離的程度為何？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系統經風險評估，判定是否需分離環境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依風險分析結果實施區隔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開發、測試與營運系統分離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營運系統不裝開發與系統工具（必要者除外）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各環境使用不同的使用者設定檔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環境分離風險評估表，寫明結論與理由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開發人員在正式環境預設無寫入權限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修改先在模擬器或備品測試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未評估就宣稱不需要測試環境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同一管理員帳號登入測試與正式資料庫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正式伺服器裝 SQL 管理與掃描工具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惡意程式防護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系統受到惡意程式防護的程度為何？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確定惡意程式防護的要求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定義並實施技術與組織防護措施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減少攻擊面；防毒自動更新、即時與定期掃描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閘道自動檢查（含加密連線與內容）、防竄改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無法裝防毒的系統實施替代措施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EDR＋防竄改，使用者非本機管理員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《無法安裝防毒系統清單》與替代措施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 掃毒站：外來隨身碟先掃再接產線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病毒碼逾一個月未更新無人追蹤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老舊 HMI 無防毒，也無隔離等替代措施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郵件閘道放行無法掃描的加密壓縮檔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事件日誌的記錄與分析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事件日誌被記錄與分析的程度為何？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842477"/>
          </a:xfrm>
          <a:prstGeom prst="roundRect">
            <a:avLst>
              <a:gd name="adj" fmla="val 5955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4767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確定並滿足事件日誌與管理者／使用者活動記錄要求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評估各 IT 系統是否需記錄日誌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IT 服務：取得監控選項納入評估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在法規允許範圍內定期檢查違規與異常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79837"/>
            <a:ext cx="6812280" cy="1447800"/>
          </a:xfrm>
          <a:prstGeom prst="roundRect">
            <a:avLst>
              <a:gd name="adj" fmla="val 757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63470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927309"/>
            <a:ext cx="6492240" cy="108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定義升級通報給負責單位的程序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保護日誌（內容與中繼資料）防竄改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監控並記錄網路上的資安相關行為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119077"/>
            <a:ext cx="6812280" cy="1053123"/>
          </a:xfrm>
          <a:prstGeom prst="roundRect">
            <a:avLst>
              <a:gd name="adj" fmla="val 1041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1739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466549"/>
            <a:ext cx="6492240" cy="68736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落實合約等日誌要求；記錄遠端存取起訖（C, 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極高：記錄對極高保護資料的所有存取（C, I）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集中收集 AD、防火牆、VPN、EDR 日誌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日誌伺服器獨立帳號、不可刪、NTP 同步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每週檢視留紀錄；廠商遠端經跳板機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日誌只收不看，暴力破解數週未發現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網域管理員可刪除日誌伺服器紀錄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未評估 M365 稽核日誌保存期限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弱點的識別與處理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弱點被識別與處理的程度為何？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蒐集技術弱點資訊（原廠、CVE）並評估，如 CVSS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識別受影響系統與軟體，評估弱點風險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處理弱點所產生的風險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定義並實施修補程式管理（測試與安裝）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必要時實施降低風險的措施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以適當方式驗證修補已成功安裝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情資：原廠、NVD、CISA KEV、TWCERT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CVSS＋資產重要性與暴露訂時限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 無法修補：隔離、虛擬修補、登錄風險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VPN 已知被利用漏洞逾兩月未修補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第三方軟體與設備韌體未納入修補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修補後未驗證，多台長期安裝失敗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系統與服務稽核（技術檢查）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系統與服務接受技術性檢查的程度為何？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842477"/>
          </a:xfrm>
          <a:prstGeom prst="roundRect">
            <a:avLst>
              <a:gd name="adj" fmla="val 5955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4767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確定稽核要求並及時明定範圍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事先與系統營運者及使用者協調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結果可追溯保存並向管理階層報告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依結果訂定措施，於適當期限內實施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79837"/>
            <a:ext cx="6812280" cy="1447800"/>
          </a:xfrm>
          <a:prstGeom prst="roundRect">
            <a:avLst>
              <a:gd name="adj" fmla="val 757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63470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927309"/>
            <a:ext cx="6492240" cy="108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規劃時考量安全風險（如服務中斷）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定期由合格人員用適當工具，內外部皆查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完成後於合理期間內撰寫報告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119077"/>
            <a:ext cx="6812280" cy="1053123"/>
          </a:xfrm>
          <a:prstGeom prst="roundRect">
            <a:avLst>
              <a:gd name="adj" fmla="val 1041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1739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466549"/>
            <a:ext cx="6492240" cy="68736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關鍵系統額外稽核，如人工滲透測試（A）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極高：定期弱點掃描，無法掃描者需保護（C,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年度檢測計畫：內外部掃描＋滲透測試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掃描前通知；OT 採被動監測或停機時段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發現項進追蹤清單，與 5.2.5 時限連動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只做外部掃描，從未從內部檢查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報告未呈報，高風險項目半年未處理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未事先協調，掃描造成產線 HMI 當機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組織網路的管理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組織的網路受到管理的程度為何？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確定並滿足網路管理與控制的要求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確定並滿足網路區隔（segmentation）要求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定義網路管理與控制的程序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依風險區隔：辦公、製造、測試開發網路分離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限制入侵影響、偵測橫向移動與資料外洩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809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1023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設備驗證、管理介面限制、無線與遠端風險（C,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IT／OT 間防火牆與 DMZ，預設拒絕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維護網路架構圖與網段清單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NAC／802.1X 或關閉未使用交換器埠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辦公與產線在同一平面網路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防火牆 any-any 規則且無覆核紀錄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交換器可 Telnet 存取且用預設密碼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服務持續運作規劃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服務的持續運作規劃到位的程度為何？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識別關鍵 IT 服務並考量營運衝擊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利害關係人知悉並滿足持續運作與復原責任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識別關鍵 IT 系統，給予保護需求與措施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規劃定期審查：替代通訊、儲存、電力與網路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至少涵蓋 DDoS、勒索軟體、系統失效、天災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809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10235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RTO、SLA、測試等 7 項獨立要求（C, 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極高：協調供應商計畫、分離備援、記錄測試（C,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服務 BIA：停機 1 時／1 天／3 天影響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勒索劇本：隔離、通報、依序還原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每年推演＋實際還原，計時比對 RTO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持續運作計畫未涵蓋勒索軟體情境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RTO 4 小時從未測試，實際需兩天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 SLA 修復時間遠長於公司 RTO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5.2.9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 IT 服務的備份與復原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 IT 服務的備份與復原獲得確保的程度為何？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 IT 系統有備份概念，並保護備份的 C、I、A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 IT 服務有復原概念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每個相關 IT 服務皆有備份與復原概念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考量服務間相依性與復原順序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4515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RPO／RTO、資源、空間備援、還原測試（I,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極高：離線／不可變／隔離 IAM 備份、地理備援（I,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備份清冊含 RPO、RTO、相依與順序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備份系統不加入網域，管理介面 MFA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每月抽樣還原，每年整體服務演練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只有備份排程，從未還原測試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 NAS 用網域帳號，一起被加密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程式只存在工程師個人筆電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RPO／RTO 與備份口訣</a:t>
            </a:r>
            <a:endParaRPr lang="en-US" sz="3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意義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決定什麼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RPO 復原點目標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最多可接受遺失多久的資料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備份頻率與複寫方式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ERP 1 小時：每小時交易日誌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RTO 復原時間目標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服務最晚多久內要恢復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備援架構、還原程序與資源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MES 8 小時：備用主機＋演練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3-2-1-1-0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份、2 媒體、1 異地、1 離線、0 錯誤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 5.2.9 高與極高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實務口訣，非 ISA 原文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5.3.1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新開發或進一步開發之 IT 服務的資安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在新的或進一步開發的 IT 服務中考量資安的程度為何？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023217"/>
          </a:xfrm>
          <a:prstGeom prst="roundRect">
            <a:avLst>
              <a:gd name="adj" fmla="val 5423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65745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確定並考量 IT 服務設計與開發的資安要求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確定並考量 IT 服務與元件取得或擴充要求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考量既有 IT 服務變更的資安要求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依資安要求執行系統驗收測試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60577"/>
            <a:ext cx="6812280" cy="1591654"/>
          </a:xfrm>
          <a:prstGeom prst="roundRect">
            <a:avLst>
              <a:gd name="adj" fmla="val 6894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154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08049"/>
            <a:ext cx="6492240" cy="1225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需求規格含資安、原廠建議、失效安全並審查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正式使用前審查是否符合規格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避免用正式資料測試；若用須同等保護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3671"/>
            <a:ext cx="6812280" cy="728529"/>
          </a:xfrm>
          <a:prstGeom prst="roundRect">
            <a:avLst>
              <a:gd name="adj" fmla="val 15062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498535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791143"/>
            <a:ext cx="6492240" cy="3627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極高：客製軟體上線、重大變更時安全測試（C,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新系統／SaaS 先填資安需求檢核表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RFP 與合約加入資安與 SBOM 條款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測試資料遮罩或假名化並限期刪除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部門刷卡訂閱雲端，未評估資安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驗收只測功能，預設管理員未變更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測試環境使用完整正式客戶資料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5.3.2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網路服務要求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網路服務的要求被定義的程度為何？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確定並滿足網路服務的資安要求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定義並實施網路服務的保護與使用程序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SLA 形式約定這些要求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實施適當的備援解決方案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4515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定義並執行網路流量品質監控程序（A）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網路服務清冊：供應商、SLA、備援方式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ISP 或 4G／5G 備援，定期切換測試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PRTG／Zabbix 監控並每月比對 SLA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主要線路無 SLA，只能等一般客服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備援線路從未測試，實際切換失敗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未監控可用性，EDI 中斷由客戶通知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5.3.3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IT 服務資訊資產的歸還與移除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從外部 IT 服務歸還及安全移除資訊資產受規範的程度？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每項外部 IT 服務皆定義並實施資產歸還與安全移除程序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描述終止流程，隨變更調整並以合約規範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外部服務清冊加匯出格式、刪除證明欄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終止檢核表：匯出驗證、撤銷帳號金鑰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標準條款雲端：保存保留刪除政策版本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多項 SaaS 未定義任何退場程序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終止雲端備份後無刪除證明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停用服務後整合 API 金鑰仍有效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5.3.4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共用外部 IT 服務中資訊的保護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在共用的外部 IT 服務中，資訊受到保護的程度為何？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有效隔離租戶，防止其他組織未授權存取自身資訊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服務商隔離概念已文件化並隨變更調整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考量資料、功能、OS、儲存與網路的分離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評估共用環境中運行外部軟體的風險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ISO 27017、SOC 2 等隔離證據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限制外部共用，用 Secure Score 檢查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自己代管多客戶資料時各自獨立隔離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未取得或審查任何供應商隔離證據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多家 OEM 資料放同一資料夾共用權限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雲端儲存體設為公開存取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每日自動備份到加入網域的 NAS，從未做過還原測試。若 ERP 為極高可用性需求，最主要缺口為何？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應改為每小時備份一次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缺離線／不可變／隔離 IAM 備份與還原測試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應改用磁帶全面取代 NAS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補一份備份政策文件即可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情境討論：勒索軟體攻進產線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95528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498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台中某車燈零件廠（可用性：高）週一早上 ERP、MES 被加密，兩條產線 HMI 跳出勒索畫面。調查發現入口是未修補的 VPN；辦公與產線同一網段；備份 NAS 用網域帳號，也被加密。OEM 正在等出貨。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955280" cy="1691640"/>
          </a:xfrm>
          <a:prstGeom prst="roundRect">
            <a:avLst>
              <a:gd name="adj" fmla="val 648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00600"/>
            <a:ext cx="7498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依第5章，哪些控制項會被開缺失？事件當下與事後各該做什麼？</a:t>
            </a:r>
            <a:endParaRPr lang="en-US" sz="1800" dirty="0"/>
          </a:p>
        </p:txBody>
      </p:sp>
      <p:pic>
        <p:nvPicPr>
          <p:cNvPr id="9" name="Image 0" descr="/home/user/tisax/course/assets/img/ppt/allan-th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463040"/>
            <a:ext cx="2155881" cy="2651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86968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先別急著看答案，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 3 分鐘！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6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資訊安全 第6–7章 供應商與法遵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6.1.1–7.1.2　5 個控制項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承攬商與合作夥伴的資訊安全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與承攬商及合作夥伴之間的資安確保到什麼程度？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承攬商與合作夥伴須接受資安風險評估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以契約約定確保適當的資安水準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適用時，客戶契約要求向下傳遞給承攬商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以契約要求承攬商再傳遞給其分包商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審查承攬商的服務報告與文件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809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10235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提供證據；記錄符合度與契約遵守並監控（C, 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極高：第三方稽核或管理層決策紀錄（C,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從會計廠商主檔盤點並依保護需求分級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合約加資安條款、稽核權、flow-down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證書／Label 到期前 60–90 天提醒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供應商評鑑只有品質交期，無資安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委外有網域管理權，合約無資安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證書過期或範圍不涵蓋服務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承攬商依保護需求分級</a:t>
            </a:r>
            <a:endParaRPr lang="en-US" sz="30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保護需求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典型承攬商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建議驗證機制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一般區域清潔、傳統物流、維修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管理階層確認的自評或證書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 服務商（DBA）、顧問、模具設計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TISAX 高 Label 或同等＋稽核權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極高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網域管理 IT 商、CAD 外包、原型件廠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TISAX 極高 Label；定期深入檢查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6.1.2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保密協議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資訊交換時的保密要求以契約約定到什麼程度？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確定並履行保密要求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傳遞需保護資訊者皆知悉 NDA 要求與程序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轉交敏感資訊前，須已簽訂有效 NDA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定期審查 NDA 要求、程序與資訊處理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23367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範本經法律確認，載明當事人、標的、期間等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約定合約結束後處理與符合性證明方式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監控有期限 NDA 效期並及時展延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單向／雙向／專案型 NDA 範本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NDA 登錄表，到期前 60 天提醒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寄送機密圖面前確認有效 NDA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圖面寄出日期早於 NDA 簽署日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NDA 已過期仍持續交換設計資料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範本未約定合約後返還或銷毀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6.1.3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IT 服務供應商的責任分工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 IT 服務供應商與本組織的責任界定到什麼程度？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023217"/>
          </a:xfrm>
          <a:prstGeom prst="roundRect">
            <a:avLst>
              <a:gd name="adj" fmla="val 5423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65745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識別相關 IT 服務並確定其安全要求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定義負責實施的組織，且對方知悉責任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明確規定並實施共同責任機制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負責的組織確實履行各自責任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60577"/>
            <a:ext cx="6812280" cy="1160092"/>
          </a:xfrm>
          <a:prstGeom prst="roundRect">
            <a:avLst>
              <a:gd name="adj" fmla="val 945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1544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08049"/>
            <a:ext cx="6492240" cy="7943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服務組態依安全要求規劃、實施並記錄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負責人員受過適當訓練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12108"/>
            <a:ext cx="6812280" cy="1160092"/>
          </a:xfrm>
          <a:prstGeom prst="roundRect">
            <a:avLst>
              <a:gd name="adj" fmla="val 9459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0669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6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 保護需求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359580"/>
            <a:ext cx="6492240" cy="7943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服務與供應商清單、ISA 適用性、組態定評（C, I, A）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供應商履責證明、整合本地身分驗證（C, I, A）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服務清冊：型態、供應商、SLA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每個服務做 RACI：MFA、備份、修補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雲端接公司 SSO＋MFA，定期檢視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以為雲端備份是廠商做，誤刪無法還原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委外 MIS 與公司互以為對方負責修補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從未審閱供應商 SOC 2 報告或證書</a:t>
            </a:r>
            <a:endParaRPr lang="en-US" sz="1400" dirty="0"/>
          </a:p>
        </p:txBody>
      </p:sp>
      <p:sp>
        <p:nvSpPr>
          <p:cNvPr id="26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法規與契約要求的遵循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對法規及契約規定的遵循確保到什麼程度？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定期確定資安相關法律、法規及契約規定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制定並實施遵循政策，傳達給負責人員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依法規、契約與業務需求考量紀錄完整性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法規清冊：條文、遵循方式、負責人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客戶合約資安條款摘錄進清冊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軟體授權清冊與開源元件 SBOM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法規清冊三年未更新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只列法規名稱，無遵循方式與負責人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電腦安裝未授權 CAD 軟體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2463B5"/>
          </a:solidFill>
          <a:ln w="12700">
            <a:solidFill>
              <a:srgbClr val="2463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7.1.2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個人資料保護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實施資安時，考量個人資料保護到什麼程度？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確定個資處理流程的法律與契約資安要求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制定遵循規範並讓相關人員知悉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PII 保護流程與程序納入 ISMS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個資檔案清冊：目的、位置、期限、權限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資產分級與風險評估納入個資情境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事件程序加入個資事故通知當事人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ISMS 資產清冊與風險評估無個資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人事資料放在全公司可讀的共用夾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薪資委外合約無個資保護要求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ISA 2027 的 6.1.1，處理極高保護需求資訊的供應商若未經稽核，組織應如何處理？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一律立即終止往來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由管理階層做風險決策並留存紀錄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改收供應商自評即可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交由採購人員自行判斷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7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Prototype Protection 原型件保護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 組織要求 13 項｜8.2 實體與環境安全 7 項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誰決定原型件要保護？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原型件：車輛、零組件、零件等未公開的新開發品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擁有者即原型件擁有者，通常是 OEM 或 Tier 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保護需求由擁有者的委託部門分級，不是供應商自訂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分級為高或極高者，須落實本模組最低要求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以委託方分級為準，並在訂單中與委託方確認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41782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578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本模組只有 Must 與 Should，沒有高／極高欄位</a:t>
            </a:r>
            <a:endParaRPr lang="en-US" sz="1900" dirty="0"/>
          </a:p>
        </p:txBody>
      </p:sp>
      <p:pic>
        <p:nvPicPr>
          <p:cNvPr id="21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2679845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常見原型件相關 Label</a:t>
            </a:r>
            <a:endParaRPr lang="en-US" sz="30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Label（常見名稱）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適用情境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 parts 原型零件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處理需保護的零組件與零件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最常見，多數 Tier 1／2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 vehicles 原型車輛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處理完整車輛或車身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如試作車組裝、車身處理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Test vehicles 測試車輛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測試場或公共道路使用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涉及偽裝、道路試車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 events 原型件活動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以原型件辦活動或拍攝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發表會、媒體試駕、拍片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 對應控制項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以最新 ENX Handbook 為準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ISA 2027 已刪除原 8.3–8.5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 原型件模組變更</a:t>
            </a:r>
            <a:endParaRPr lang="en-US" sz="30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ISA 6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ISA 2027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組織要求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8.2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8.1（新增 6 項）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實體與環境安全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8.1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8.2（訪客管理移至 8.1.8）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測試車輛／活動／拍攝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8.3–8.5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已刪除，改由 8.1.2 涵蓋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2027.1 修訂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－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8.1.1 移除 Should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2027.1 修訂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－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8.1.8 目標加入可追溯紀錄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原型件保護規範與權責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原型件保護規範與權責的建立程度？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已發行並定期審查的原型件保護政策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權責已定義、文件化並指派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負責人已指定且具資格，資源到位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內部與業務夥伴都知道聯絡窗口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高層簽核發行政策，至少每年審查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任命原型件保護負責人＋RACI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聯絡清單貼警衛室與安全區入口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政策僅草稿或沿用客戶規範影本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總務兼任但未正式指派、無訓練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第一線不知道出事要找誰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訂單專屬的原型件處理要求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每張訂單的原型件要求是否與客戶議定？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每張相關訂單與客戶議定專屬要求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相關執行人員知悉這些要求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面向：分級措施、偽裝、測試場、道路、活動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面向：拍攝、運輸、分包、可攜式儲存媒體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 A4 訂單檢核表，九面向逐項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原型件訂單加保密等級欄位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開案會議說明要求並保留簽到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客戶要求只在業務信箱，現場不知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所有訂單套同一做法，無逐案議定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工程師用私人隨身碟帶圖面照片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原型件處理的教育訓練與意識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專案成員可證明地參與原型件訓練的程度？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至少每年一次原型件處理訓練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專案開始時對員工與參與者訓練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所有參與專案者都須參訓並留紀錄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納入整體訓練概念（對應 2.1.3）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年度課程＋專案開案專屬說明會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訓練矩陣與門禁授權連動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派遣、駐廠、保全提供精簡版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缺少專案開始時的專屬訓練紀錄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受訓名單與實際接觸人員不一致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派遣與駐廠工程師未納入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原型件區域工作人員資格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如何確保原型件區人員具備資格？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已識別敏感的工作領域與職位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職務要求已決定並確保被滿足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已驗證潛在員工身分（如查驗證件）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以面談等簡易方法確認個人適任性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敏感職位清單，JD 標註要求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到職核對證件留紀錄，不必存影本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調入敏感職位時重新確認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未識別敏感職位，一律相同處理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派遣人員身分完全交給派遣公司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內部調職進原型件區未重確認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保密協議與保密義務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依契約法有效的保密協議是否存在？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公司層級：承包方與客戶間有 NDA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個人層級：所有員工與專案成員有保密義務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遵守各國資料保護法規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NDA 清單含效期與到期提醒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派遣、實習、顧問另簽保密切結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 NDA 生效才交付圖面樣品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NDA 過期仍持續收受原型件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派遣人員未簽任何保密文件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保密條款未涵蓋離職後義務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委託分包商的要求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委託分包商時的要求是否被知悉並落實？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取得原始客戶核准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與分包商及其人員有具效力的保密協議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確保符合實際客戶安全要求並取得證明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分包申請單＋客戶書面核准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要求分包商提供 TISAX 評鑑結果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合格分包商清單註明等級與效期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分包加工前未取得原始客戶核准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分包商只有一般採購合約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分包商 Label 過期仍持續委託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安全區域進入授權流程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安全區域進入權限的授予流程是否定義？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進入授權權責清楚規定並文件化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有新增、變更、撤銷權限的流程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門禁憑證遺失／遭竊的行為準則已告知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遺失時能盡快停用（停卡、換鎖）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權限申請單：區域、期間、核准人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離職調職自動通知撤銷權限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每季比對門禁名單與在職名單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離職人員門禁卡數週後仍有效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員工不知道遺失卡片要找誰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警衛口頭開通，無核准紀錄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訪客管理（登記與陪同）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訪客登記與陪同規範的落實程度？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所有訪客都有登記義務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進入前完成文件化的保密義務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公告安全與訪客規範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遵守各國資料保護法規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登記含進出時間、證件核對、保密聲明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訪客證分色，原型件區全程陪同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紙本登記採單頁或遮蔽設計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高層或熟客來訪免登記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只有進入時間無離開時間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登記表公開，看得到他人電話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行動攝錄裝置的攜帶與使用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安全區域內攜帶與使用攝錄裝置的規範？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已訂定攜帶規範（如是否封貼鏡頭）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已訂定使用規範（通話、拍照、QR code）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極高等級區手機寄放置物櫃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VOID 防拆流水號鏡頭貼紙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作業平板以 MDM 停用相機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只寫禁止拍照，未規範攜帶方式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貼紙可撕下重貼，離場無人檢查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未涵蓋智慧手錶、平板等裝置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影像拍攝與影像資料處理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原型件拍攝及影像資料處理的規範？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原則全面禁止拍攝，須原始委託方放行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有核准流程，記錄誰、何時、何地、何設備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影像分級由原始委託方決定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安全儲存、安全傳送、不需要時安全刪除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拍攝申請單＋編號專用相機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影像存加密且權限控管的資料夾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結案刪除含記憶卡並留紀錄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個人手機拍不良品傳 LINE 群組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申請單缺設備與地點紀錄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結案後記憶卡仍存大量照片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原型件事件管理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原型件事件處理要求的規範程度？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逐訂單與委託方議定事件處理程序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情境：洩密、竊盜闖入、失竊、故障、事故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情境：火災、運輸、執法應對、偽裝損壞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訂單結束後仍有規範；通報管道為人所知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每張訂單一張事件應變卡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運輸與試車人員隨身攜帶應變卡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每年至少一次桌上演練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只有通用資安事件程序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未考量執法應對、偽裝損壞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運輸人員不知委託方通報窗口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原型件文件化與可追溯性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原型件在處理流程中是否可完整追溯？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有原型件文件化流程／概念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所有原型件都被記錄，變更可追溯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文件定期更新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登錄清冊：位置、負責人、狀態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移轉單簽收並即時更新清冊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代碼標籤，不寫專案名稱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只記進貨，無廠內移轉紀錄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帳物不符，現場有件不在清冊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 Excel 任何人可改無紀錄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8.1.13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原型件與相關模具的報廢、回收或歸還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不再需要的原型件與模具是否依規範處置？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具使用階段後的處置概念（含相關工具）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從各委託方取得報廢、回收或歸還規範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向相關員工說明這些要求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具備符合規範的證明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上鎖報廢暫存區，與一般廢料分開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兩人見證銷毀並填寫紀錄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模具治具清冊，結案依規範處置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原型件不良品與一般廢料混放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未取得客戶規範，自行決定處理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專用模具放在開放式倉庫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洋蔥模型：實體防護由外而內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65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96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周界 8.2.2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措施總和足以阻止未經授權進入場域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8389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078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179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179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4050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外殼 8.2.3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794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易接近門窗抵抗簡易工具至少三分鐘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603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292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93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93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2264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視線 8.2.4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高／極高新開發品不可被未經授權觀看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817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07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07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0478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 8.2.5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3222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機械鎖、電子門禁、人員管制三選一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3031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720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821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821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8692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入侵監控 8.2.6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1436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連線合格保全或 24/7 警衛，及時處理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71245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593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035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03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0690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客戶區隔 8.2.7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0965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依客戶／專案區隔，例外須客戶核准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實體與環境安全概念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是否有描述實體安全最低要求的安全概念？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建立安全概念，含外殼穩固與視線防護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含防止未授權進入與入侵監控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含文件化訪客管理與客戶區隔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7764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周界安全（perimeter security）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平面圖標示區域、門禁點、感測器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六面向＋周界逐項對照表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外租倉庫、測試場也確認概念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只描述門禁，缺視線與區隔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平面圖未更新，與現場不符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外部暫存倉庫未納入安全概念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周界安全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能否防止未經授權進入受保護場域？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不可能未經授權進入場域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整體措施總和足以防止接近受保護物件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結構、技術或自然屏障等適當措施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盤點圍牆、側門、貨物出入口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側門平時上鎖並納入入侵偵測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圍籬破損列入巡檢並修補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側門長期開啟方便搬貨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圍籬破損未修，巡檢紀錄空白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共用廠辦未評估周界風險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外殼結構防破壞（3 分鐘）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外殼能否防止以一般工具拆除或開啟？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不可能未經授權進入物件／安全區域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易接近門窗可抵抗簡易工具至少 3 分鐘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26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31927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堅固結構（磚造、混凝土等）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非堅固結構須有降風險措施與決策證據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盤點門窗、卸貨門、採光罩開口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防盜門窗，留 RC2 相當等級證明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鐵皮廠房設內部安全室＋偵測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一樓一般鋁窗，無格柵強化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鐵皮廠房無補強也無風險評估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卸貨門一般掛鎖，可輕易剪斷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8.2.4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視線與觀看防護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安全區域內是否確保視線與觀看防護？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777240"/>
          </a:xfrm>
          <a:prstGeom prst="roundRect">
            <a:avLst>
              <a:gd name="adj" fmla="val 14118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高／極高新開發品不可能被未授權觀看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12280" cy="1234440"/>
          </a:xfrm>
          <a:prstGeom prst="roundRect">
            <a:avLst>
              <a:gd name="adj" fmla="val 888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應該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62072"/>
            <a:ext cx="6492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相關玻璃表面具視線防護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防止透過開啟的門窗看進安全區域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一樓玻璃內側貼霧面膜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卸貨口加內側遮蔽簾或緩衝區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螢幕與投影避開窗戶方向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外部百葉窗可被撥開觀看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卸貨口開啟時原型件直接曝光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會議室玻璃牆可見投影設計圖</a:t>
            </a:r>
            <a:endParaRPr lang="en-US" sz="1400" dirty="0"/>
          </a:p>
        </p:txBody>
      </p:sp>
      <p:sp>
        <p:nvSpPr>
          <p:cNvPr id="23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8.2.5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門禁管制（防止未經授權進入）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所有出入點是否以有效門禁防止未授權進入？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至少三選一：機械鎖組＋鑰匙配發紀錄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或：電子門禁＋文件化授權配發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或：人員管制＋進出時間紀錄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盤點每個出入點的管制方式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門禁紀錄訂保存期限並到期刪除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自動關門器＋門未關警報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卸貨門鑰匙可複製、無配發紀錄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共用卡無法追溯個人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安全區域門常被紙箱撐開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8.2.6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入侵監控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存放原型件的場所是否受到入侵監控？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入侵偵測連線合格保全或管制中心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或由合格保全提供 24/7 警衛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具備警報處理計畫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確保及時處理警報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保全合約寫明到場時限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警報計畫連結 8.1.11 事件程序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每月檢討警報與出勤報告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CCTV 錄影，無入侵偵測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警報僅廠內鳴響，未連線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無法證明警報回應時間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8.2.7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現場客戶區隔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現場是否依客戶／專案進行區隔？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以人員、組織或技術措施做空間區隔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依客戶及／或專案區隔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未區隔時須取得客戶明確核准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平面圖標示各客戶專屬區域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門禁權限依客戶／專案分組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參訪動線沿途覆蓋他客戶件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多家客戶原型件混放同一貨架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參訪動線經過他客戶原型件區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共用測試設備未取得客戶同意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 ISA 2027 原型件保護，下列敘述何者正確？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原型件保護需求由供應商自行分級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 8.3–8.5 已刪除，改由 8.1.2 涵蓋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外殼須能抵抗簡易工具至少十分鐘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客戶區隔沒有例外，一律須實體隔開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情境討論：訪客手機與合照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95528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498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某客戶帶兩位外部顧問參觀試作工坊。警衛只登記客戶本人，兩位顧問未簽保密聲明。參觀途中一位顧問的鏡頭貼紙翹起，在白板前合照留念，背景剛好是另一家車廠的原型件。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955280" cy="1691640"/>
          </a:xfrm>
          <a:prstGeom prst="roundRect">
            <a:avLst>
              <a:gd name="adj" fmla="val 648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00600"/>
            <a:ext cx="7498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這段過程涉及哪些控制項？你會如何處置並防止再發？</a:t>
            </a:r>
            <a:endParaRPr lang="en-US" sz="1800" dirty="0"/>
          </a:p>
        </p:txBody>
      </p:sp>
      <p:pic>
        <p:nvPicPr>
          <p:cNvPr id="9" name="Image 0" descr="/home/user/tisax/course/assets/img/ppt/allan-th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463040"/>
            <a:ext cx="2155881" cy="2651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86968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先別急著看答案，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 3 分鐘！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8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Protection 資料保護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9.1–9.8　12 個控制項（只有 Must）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控制者 vs 處理者：你是誰？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控制者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Controller｜GDPR 4(7)：決定處理目的與方法。如德國 OEM、Tier 1 委託方。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078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9380" y="1645920"/>
            <a:ext cx="548640" cy="54864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93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518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處理者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Processor｜GDPR 4(8)：代表控制者處理個資。如台灣測試、軟體、雲端、客服供應商。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9 章的立場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站在處理者立場，只在第 28 條受託處理時適用；只有 Must，結果 yes/no。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4078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9380" y="4114800"/>
            <a:ext cx="548640" cy="548640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518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 Label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Data（一般個資）、Special data（第 9 條特殊類別）；須連同資安題目評鑑。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台灣個資法 vs GDPR 對照</a:t>
            </a:r>
            <a:endParaRPr lang="en-US" sz="3000" dirty="0"/>
          </a:p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概念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GDPR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台灣個資法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委託方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控制者 Controller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委託機關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受託方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處理者 Processor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受託者（第 4 條視同委託機關）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委託監督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28 條契約與稽核權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施行細則第 8 條：適當監督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依指示處理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28 條第 3 項 a 款、第 29 條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施行細則第 7 條：指示範圍內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當事人權利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回覆是控制者責任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條：查詢、更正、刪除等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事故通報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處理者無不當延遲通知控制者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12 條：查明後通知當事人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9.1.1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資料保護政策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資料保護政策存在的程度？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已制定資料保護政策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政策定期更新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經組織管理階層核准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涵蓋受託處理、GDPR 與個資法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首頁標版本、核准日、下次審查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每年審查，法規或 DPA 變更加審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網路範本套用，出現他公司名稱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核准人是 IT 主管而非管理階層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以官網隱私聲明代替內部政策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9.2.1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資料保護組織與職責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資料保護職責的組織程度？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 DPO 是否強制，否則指定資料保護職能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公布聯絡資訊並整合於組織架構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執行第 39 條監督並向最高管理階層報告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足夠能量資源：資格、訓練、協調人員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DPO 指派必要性判定紀錄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privacy@ 職務信箱公布窗口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定期提交資料保護現況報告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從未判定是否需指派 DPO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掛名，無監督紀錄也從未報告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聯絡資訊是離職員工信箱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9.3.1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處理活動紀錄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處理活動被識別與記錄的程度？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GDPR 第 30 條建立並更新處理活動紀錄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處理者紀錄只含委託相關資訊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各處理活動的 TOMs 已適當實施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有定義職責的流程或作業順序說明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分控制者用、處理者用兩份 RoPA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每個委託案附資料流程圖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新專案或契約變更時更新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HR 紀錄，無處理者紀錄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新簽的 OEM 專案未列入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TOMs 只寫依公司資安政策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9.4.1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資料保護影響評估（DPIA）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高風險處理是否以 DPIA 妥善處理？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知悉哪些處理活動需要 DPIA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已執行 DPIA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DPIA 職責、任務與支援方式已定義並知悉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新專案填 DPIA 初篩表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RoPA 加「是否需 DPIA」欄位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備妥協助客戶 DPIA 的文件包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處理車內影像卻未評估 DPIA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認為 DPIA 是客戶的事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DPIA 範本空白、措施未追蹤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9.5.1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資料傳輸管理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資料傳輸受到管理的程度？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有適當的資料傳輸流程與作業程序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依據如第 28 條契約、SCC、TIA、適足性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確保控制者對次委託的同意或異議權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DPA 清冊含次處理者授權型態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新增次處理者先通知客戶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請購單勾選是否涉及客戶個資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未經同意導入新雲端服務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部分客戶未簽 DPA 或已到期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次處理者清單漏列海外維運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9.5.2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對次處理者的契約義務傳遞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契約義務是否傳遞並落實至次處理者？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客戶契約義務已傳遞給次處理者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已審查次處理者的遵循情況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次處理者聯絡資訊可取得且最新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 DPA 義務對照表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以最嚴客戶要求做次處理者範本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每年評估次處理者，半年確認窗口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次處理者只有一般採購合約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事故通知時限比客戶要求寬鬆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簽約後從未審查，窗口已離職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9.5.3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第三國傳輸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對第三國的資料傳輸受到管理的程度？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第三國傳輸已知悉並系統化記錄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具充分保障：GDPR 第 5 章、ECJ 判決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相關時執行 TIA（特別是資料輸出者）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逐次判定是否需取得控制者同意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RoPA 加存放國、存取國欄位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盤點雲端租戶區域並留存證據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訂定第三國傳輸核准程序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不知道雲端資料存放區域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傳海外子公司無 SCC 也無 TIA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DPA 限歐盟卻在台灣存副本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9.6.1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當事人請求處理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當事人請求被處理的程度？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當事人請求被及時處理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有程序協助控制者回應請求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員工受訓：收到請求立即聯繫控制者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與控制者協調後續處理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例如一個工作日內轉交控制者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建立當事人請求登記簿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以模擬來信演練第一線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員工不知收到請求要找誰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處理者自行回覆並刪除資料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登記簿看不出轉交時間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9.6.2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個資事故處理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資料保護事故被處理的程度？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資料保護事故被及時處理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 1.6 事件管理或另訂應變計畫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立即通知控制者並記錄處理活動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訓練員工，並協助控制者處理事故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事件程序加個資事故判定問題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客戶事故通知時限對照表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每年桌上演練並計時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事件程序完全沒提到個資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誤寄客戶個資卻未通知客戶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以為處理者也是 72 小時通報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9.7.1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員工保密義務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員工負有保密義務的程度？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處理個資的員工負保密義務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須遵守適用的資料保護法規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離職後仍持續有效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此義務有文件化紀錄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到職簽切結，未簽不開客戶帳號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簽署清冊可對應帳號清單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派遣、外包人員比照辦理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條款只涵蓋營業秘密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新進工程師存取數月仍未簽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未載明離職後持續有效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9.7.2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員工資料保護訓練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員工接受資料保護訓練的程度？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1691640"/>
          </a:xfrm>
          <a:prstGeom prst="roundRect">
            <a:avLst>
              <a:gd name="adj" fmla="val 648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員工接受訓練並提升意識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範圍、頻率、內容依保護需求決定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關鍵角色（如 IT 管理員）有專屬訓練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訓練矩陣：對象、內容、頻率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全員課教處理者三不原則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管理員作業指引與短片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全公司只有一份通用資安影片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管理員無專屬訓練或指引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新進人員未在到職時受訓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9.8.1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2926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處理指示的處理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控制者的處理指示被處理的程度？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12280" cy="2148840"/>
          </a:xfrm>
          <a:prstGeom prst="roundRect">
            <a:avLst>
              <a:gd name="adj" fmla="val 5106"/>
            </a:avLst>
          </a:prstGeom>
          <a:solidFill>
            <a:srgbClr val="FCE8E9"/>
          </a:solidFill>
          <a:ln w="12700">
            <a:solidFill>
              <a:srgbClr val="FCE8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必須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93392"/>
            <a:ext cx="64922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控制者的處理指示有被處理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收到的指示已被記錄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指示可被執行（如更正、刪除）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資料依客戶及委託／專案分開存放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1755648"/>
            <a:ext cx="384048" cy="384048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實務作法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1284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客戶處理指示登記簿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口頭指示會後以 Email 確認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依客戶／專案分資料夾與 AD 群組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4023360" cy="2240280"/>
          </a:xfrm>
          <a:prstGeom prst="roundRect">
            <a:avLst>
              <a:gd name="adj" fmla="val 489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133088"/>
            <a:ext cx="384048" cy="384048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51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稽核重點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590288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指示散落各 PM 信箱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 OEM 資料放同一層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客戶真實資料拿去測 B 系統</a:t>
            </a:r>
            <a:endParaRPr lang="en-US" sz="14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隨堂小測驗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778240" cy="1143000"/>
          </a:xfrm>
          <a:prstGeom prst="roundRect">
            <a:avLst>
              <a:gd name="adj" fmla="val 96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8321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身為處理者，發現客戶委託的個資外洩，依 GDPR 你首先應該？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 小時內自行通報歐盟監管機關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27432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31546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8803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無不當延遲通知控制者（客戶）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先自行通知所有受影響的當事人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4343400"/>
            <a:ext cx="4297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754880"/>
            <a:ext cx="594360" cy="59436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480560"/>
            <a:ext cx="3246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查清根因後再通知客戶</a:t>
            </a:r>
            <a:endParaRPr lang="en-US" sz="1800" dirty="0"/>
          </a:p>
        </p:txBody>
      </p:sp>
      <p:pic>
        <p:nvPicPr>
          <p:cNvPr id="21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3106217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PART 9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稽核實務與常見缺失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導入路線、評鑑當天、Top 缺失與 CAP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TISAX 導入路線圖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65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96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差距分析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ISA 2027.1 逐題訪談看證據，確認評鑑目標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8389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078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179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179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4050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範圍與風險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794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定義範圍、ENX 註冊；資產清冊與風險評鑑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603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292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93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93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2264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文件與實施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撰寫政策程序，落實措施並開始累積紀錄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817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07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07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0478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內稽與管審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3222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ISA 逐題內稽，管理階層審查有效性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3031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720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821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821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8692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自評 ISA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1436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填寫成熟度、實施說明與參考文件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71245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593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035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03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0690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正式評鑑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0965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AL2／AL3 文件審查、訪談、現場，處理 CAP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文件清單（節錄前 6 項）</a:t>
            </a:r>
            <a:endParaRPr lang="en-US" sz="3000" dirty="0"/>
          </a:p>
        </p:txBody>
      </p:sp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文件／紀錄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對應控制項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資訊安全政策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1.1.1、1.2.1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ISMS 範圍與適用控制項聲明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資安組織與職責說明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1.2.2、1.6.3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專案資安分類與風險評估程序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資訊資產清冊（含支援資產）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紀錄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資訊分級與處理規範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程序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1.3.2、3.1.3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受訪技巧：要與不要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要：聽清楚再答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不確定就請稽核員再說明；只答被問的，答完就停，不要主動延伸。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0780" y="141732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9380" y="1645920"/>
            <a:ext cx="548640" cy="54864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93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5180" y="164592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要：說完就出示證據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33172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口說無憑；講實際怎麼做，不要朗讀程序書。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C25A12"/>
          </a:solidFill>
          <a:ln w="12700">
            <a:solidFill>
              <a:srgbClr val="C25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不要：猜或編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不知道就說誰會知道；絕不臨時補紀錄、補日期。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40780" y="3886200"/>
            <a:ext cx="5372100" cy="21945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9380" y="4114800"/>
            <a:ext cx="548640" cy="548640"/>
          </a:xfrm>
          <a:prstGeom prst="ellipse">
            <a:avLst/>
          </a:prstGeom>
          <a:solidFill>
            <a:srgbClr val="7A3FB0"/>
          </a:solidFill>
          <a:ln w="12700">
            <a:solidFill>
              <a:srgbClr val="7A3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93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5180" y="4114800"/>
            <a:ext cx="42748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不要：互相指責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4800600"/>
            <a:ext cx="49149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坦承不足並說明改善計畫；各部門對同一流程說法要一致。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AL3 現場巡查重點路線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65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96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大門警衛室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訪客登記、保密承諾、訪客證、拍照規定公告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8389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078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179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179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4050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794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桌面淨空、螢幕鎖定、分級標示、白板與印表機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603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292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93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93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2264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門禁與進出紀錄、機櫃上鎖、UPS 與環境監控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817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07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07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0478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收發貨區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3222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是否納入區域劃分、原型件交接紀錄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3031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720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821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821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8692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原型件區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1436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周界、外殼、遮蔽、門禁、入侵偵測、區隔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71245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593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035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03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0690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產線與銷毀區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0965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 帳號、USB、網段；碎紙等級與銷毀紀錄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Auditor 的判定邏輯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 Objective：控制目標是否達成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 是嚴格要求，缺一項通常就不符合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Should 未實施：要有理由、影響評估與核准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依評鑑目標檢查高／極高（C、I、A）要求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aspects 每個面向都要有決定與理由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41782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578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成熟度 3＝標準化＋持續運作；判斷個案或系統性</a:t>
            </a:r>
            <a:endParaRPr lang="en-US" sz="1900" dirty="0"/>
          </a:p>
        </p:txBody>
      </p:sp>
      <p:pic>
        <p:nvPicPr>
          <p:cNvPr id="21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2679845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常見缺失 Top（一）</a:t>
            </a:r>
            <a:endParaRPr lang="en-US" sz="3000" dirty="0"/>
          </a:p>
        </p:txBody>
      </p:sp>
      <p:graphicFrame>
        <p:nvGraphicFramePr>
          <p:cNvPr id="1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控制項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常見缺失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建議矯正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4.1.3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離職帳號數週後才停用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串接人資離職流程即時停用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5.2.9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有備份但從未做還原測試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定期還原測試＋離線／不可變備份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1.3.3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自用未評估的雲端或 AI 工具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建立核准清單並封鎖未核准服務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風險評鑑多年未更新、無負責人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定期重評、指派負責人並追蹤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內稽未涵蓋 ISA，不符合未結案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 ISA 規劃內稽並追蹤結案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1.3.1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資產清冊只有硬體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以資訊資產為主軸重建清冊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常見缺失 Top（二）</a:t>
            </a:r>
            <a:endParaRPr lang="en-US" sz="3000" dirty="0"/>
          </a:p>
        </p:txBody>
      </p:sp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控制項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常見缺失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建議矯正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2.1.2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派遣外包未簽保密承諾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要求簽署或合約約定並取得名冊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3.1.4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筆電未全加密，USB 任意使用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BitLocker＋MDM，管制可攜媒體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4.1.2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VPN、特權帳號未用 MFA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依風險導入 MFA 或 PAM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5.2.7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辦公網與 OT、訪客網未區隔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網段區隔並限制管理介面存取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6.1.1／6.1.2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供應商無資安條款、NDA 過期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評估與條款範本，揭露前確認 NDA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8.1.2／8.2.4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未取得客戶要求；窗戶看得見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訂單要求清單＋遮蔽並定期巡檢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 矯正措施計畫怎麼寫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65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96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引用缺失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完整引用稽核員描述與控制項編號，不淡化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8389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078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179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179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4050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水平展開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56794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檢查其他系統、部門、據點是否有同類問題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603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292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93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93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2264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根因分析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5008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五個為什麼或魚骨圖，不停在人員疏忽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817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07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07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0478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立即矯正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3222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先處理眼前問題，例如停用帳號、補簽 NDA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3031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720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E6EFFB"/>
          </a:solidFill>
          <a:ln w="12700">
            <a:solidFill>
              <a:srgbClr val="E6EF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38210" y="205740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821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8692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防止再發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1436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修流程、自動化、訓練；具名負責人與期限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712452" y="2286000"/>
            <a:ext cx="265176" cy="27432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59340" y="1828800"/>
            <a:ext cx="1653540" cy="3931920"/>
          </a:xfrm>
          <a:prstGeom prst="roundRect">
            <a:avLst>
              <a:gd name="adj" fmla="val 6636"/>
            </a:avLst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0350" y="2057400"/>
            <a:ext cx="731520" cy="73152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2035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069068" y="2926080"/>
            <a:ext cx="14340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有效性驗證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0096500" y="3657600"/>
            <a:ext cx="13792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連續數期紀錄、內稽抽樣或 KPI 證明有效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情境討論：離職帳號抽樣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95528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498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稽核員抽 5 名離職人員，2 名 AD 帳號在離職後 10 天與 23 天才停用。IT 主管說：「那是人資太晚通知，我們每月比對一次。」人資主管回：「我們有口頭講啊！」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7955280" cy="1691640"/>
          </a:xfrm>
          <a:prstGeom prst="roundRect">
            <a:avLst>
              <a:gd name="adj" fmla="val 648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00600"/>
            <a:ext cx="7498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受訪回答有哪些問題？CAP 要怎麼寫才不會被退回？</a:t>
            </a:r>
            <a:endParaRPr lang="en-US" sz="1800" dirty="0"/>
          </a:p>
        </p:txBody>
      </p:sp>
      <p:pic>
        <p:nvPicPr>
          <p:cNvPr id="9" name="Image 0" descr="/home/user/tisax/course/assets/img/ppt/allan-th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463040"/>
            <a:ext cx="2155881" cy="2651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86968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先別急著看答案，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 3 分鐘！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課程總結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2027：Must 必做，Should 偏離要有理由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資安：成熟度 3＝標準化＋持續運作的證據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原型件：分級由委託方決定；8.1 組織＋8.2 洋蔥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資料保護：站在處理者立場，只有 Must、yes/no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評鑑：寫你真的有做的，證明你寫的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41782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578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缺失：找根因、水平展開、驗證有效</a:t>
            </a:r>
            <a:endParaRPr lang="en-US" sz="1900" dirty="0"/>
          </a:p>
        </p:txBody>
      </p:sp>
      <p:pic>
        <p:nvPicPr>
          <p:cNvPr id="21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2679845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下一步：線上學習與測驗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3162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31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線上文字教材：逐條條文、實務作法與稽核重點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0886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8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互動影音教材：Allan 與 ARALE 帶你複習重點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308610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課後測驗：資訊安全、原型件、資料保護三科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457200" cy="457200"/>
          </a:xfrm>
          <a:prstGeom prst="ellipse">
            <a:avLst/>
          </a:prstGeom>
          <a:solidFill>
            <a:srgbClr val="0F9E93"/>
          </a:solidFill>
          <a:ln w="12700">
            <a:solidFill>
              <a:srgbClr val="0F9E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及格分數 80 分，通過即可取得證書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48640" y="4640580"/>
            <a:ext cx="457200" cy="45720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40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480560"/>
            <a:ext cx="7223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回公司：用 Top 缺失表先做一次自我檢查</a:t>
            </a:r>
            <a:endParaRPr lang="en-US" sz="2100" dirty="0"/>
          </a:p>
        </p:txBody>
      </p:sp>
      <p:pic>
        <p:nvPicPr>
          <p:cNvPr id="18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2679845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2237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5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103120"/>
            <a:ext cx="64922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筆記筆記！有問題現在問最划算，Allan 老師在線上等你喔！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892040"/>
            <a:ext cx="6400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 助教 ARALE</a:t>
            </a:r>
            <a:endParaRPr lang="en-US" sz="1600" dirty="0"/>
          </a:p>
        </p:txBody>
      </p:sp>
      <p:pic>
        <p:nvPicPr>
          <p:cNvPr id="6" name="Image 0" descr="/home/user/tisax/course/assets/img/ppt/arale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914400"/>
            <a:ext cx="4045306" cy="5120640"/>
          </a:xfrm>
          <a:prstGeom prst="rect">
            <a:avLst/>
          </a:prstGeom>
        </p:spPr>
      </p:pic>
      <p:sp>
        <p:nvSpPr>
          <p:cNvPr id="8" name="Text 1"/>
          <p:cNvSpPr/>
          <p:nvPr>
            <p:ph idx="101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7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END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ISA 2027 for TISAX 標準要求解說｜講師 Allan Lo</a:t>
            </a:r>
            <a:endParaRPr lang="en-US" sz="1800" dirty="0"/>
          </a:p>
        </p:txBody>
      </p:sp>
      <p:pic>
        <p:nvPicPr>
          <p:cNvPr id="5" name="Image 0" descr="/home/user/tisax/course/assets/img/ppt/allan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914400"/>
            <a:ext cx="2874743" cy="5394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CD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l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A 2027 TISAX">
  <a:themeElements>
    <a:clrScheme name="ISA 2027 TISAX">
      <a:dk1>
        <a:srgbClr val="1B2430"/>
      </a:dk1>
      <a:lt1>
        <a:srgbClr val="FFFFFF"/>
      </a:lt1>
      <a:dk2>
        <a:srgbClr val="0F2A44"/>
      </a:dk2>
      <a:lt2>
        <a:srgbClr val="F3F6F9"/>
      </a:lt2>
      <a:accent1>
        <a:srgbClr val="0F9E93"/>
      </a:accent1>
      <a:accent2>
        <a:srgbClr val="F2B705"/>
      </a:accent2>
      <a:accent3>
        <a:srgbClr val="C8323C"/>
      </a:accent3>
      <a:accent4>
        <a:srgbClr val="2463B5"/>
      </a:accent4>
      <a:accent5>
        <a:srgbClr val="7A3FB0"/>
      </a:accent5>
      <a:accent6>
        <a:srgbClr val="C25A12"/>
      </a:accent6>
      <a:hlink>
        <a:srgbClr val="2463B5"/>
      </a:hlink>
      <a:folHlink>
        <a:srgbClr val="7A3FB0"/>
      </a:folHlink>
    </a:clrScheme>
    <a:fontScheme name="ISA 2027 TISAX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142</Slides>
  <Notes>142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</vt:vector>
  </TitlesOfParts>
  <Company>ISA 2027 for TISAX 標準要求解說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2027 for TISAX 標準要求解說</dc:title>
  <dc:subject>PptxGenJS Presentation</dc:subject>
  <dc:creator>Allan Lo</dc:creator>
  <cp:lastModifiedBy>Allan Lo</cp:lastModifiedBy>
  <cp:revision>1</cp:revision>
  <dcterms:created xsi:type="dcterms:W3CDTF">2026-10-26T08:53:26Z</dcterms:created>
  <dcterms:modified xsi:type="dcterms:W3CDTF">2026-10-26T08:53:26Z</dcterms:modified>
</cp:coreProperties>
</file>